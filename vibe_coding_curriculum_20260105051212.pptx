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pn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pn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png"/><Relationship Id="rId21" Type="http://schemas.openxmlformats.org/officeDocument/2006/relationships/image" Target="../media/image-11-21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667EEA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3047695"/>
            <a:ext cx="6667805" cy="6667805"/>
          </a:xfrm>
          <a:prstGeom prst="ellipse">
            <a:avLst/>
          </a:prstGeom>
          <a:solidFill>
            <a:srgbClr val="764BA2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144207" y="1835201"/>
            <a:ext cx="4286707" cy="3191256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0" dist="1905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43546" y="2245766"/>
            <a:ext cx="3886200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7343546" y="2035454"/>
            <a:ext cx="95098" cy="95098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9" name="Shape 7"/>
          <p:cNvSpPr/>
          <p:nvPr/>
        </p:nvSpPr>
        <p:spPr>
          <a:xfrm>
            <a:off x="7496251" y="2035454"/>
            <a:ext cx="95098" cy="95098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10" name="Shape 8"/>
          <p:cNvSpPr/>
          <p:nvPr/>
        </p:nvSpPr>
        <p:spPr>
          <a:xfrm>
            <a:off x="7648956" y="2035454"/>
            <a:ext cx="95098" cy="95098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43546" y="2425903"/>
            <a:ext cx="33741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Create educational app with Vibe Coding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343546" y="2670962"/>
            <a:ext cx="488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33995" y="2670962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 =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435340" y="2670962"/>
            <a:ext cx="3355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05A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669426" y="2670962"/>
            <a:ext cx="13450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18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ClassroomProject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916668" y="2670962"/>
            <a:ext cx="2596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343546" y="2916936"/>
            <a:ext cx="6501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target: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889443" y="2916936"/>
            <a:ext cx="14310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"Future Teachers"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214409" y="2916936"/>
            <a:ext cx="182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7343546" y="3161995"/>
            <a:ext cx="6501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engine: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889443" y="3161995"/>
            <a:ext cx="165963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"Google Antigravity"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448495" y="3161995"/>
            <a:ext cx="1828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343546" y="3407054"/>
            <a:ext cx="80284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duration: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045806" y="3407054"/>
            <a:ext cx="189738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"8 Sessions / 16 Weeks"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343546" y="3653028"/>
            <a:ext cx="3355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343546" y="4105656"/>
            <a:ext cx="4882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18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7733995" y="4105656"/>
            <a:ext cx="7260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357616" y="4105656"/>
            <a:ext cx="9646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182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buildWebApp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214409" y="4105656"/>
            <a:ext cx="2596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343546" y="4350715"/>
            <a:ext cx="65013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prompt: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7889443" y="4350715"/>
            <a:ext cx="22027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8A1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"Make interactive quiz app"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7343546" y="4596689"/>
            <a:ext cx="33558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001707" y="1654150"/>
            <a:ext cx="1609344" cy="352044"/>
          </a:xfrm>
          <a:prstGeom prst="roundRect">
            <a:avLst>
              <a:gd name="adj" fmla="val 140400"/>
            </a:avLst>
          </a:prstGeom>
          <a:solidFill>
            <a:srgbClr val="667EEA"/>
          </a:solidFill>
          <a:ln/>
          <a:effectLst>
            <a:outerShdw sx="100000" sy="100000" kx="0" ky="0" algn="bl" rotWithShape="0" blurRad="63500" dist="38100" dir="5400000">
              <a:srgbClr val="667eea">
                <a:alpha val="30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148926" y="1674266"/>
            <a:ext cx="142189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Powered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2805" y="765353"/>
            <a:ext cx="2361895" cy="371246"/>
          </a:xfrm>
          <a:prstGeom prst="roundRect">
            <a:avLst>
              <a:gd name="adj" fmla="val 37893"/>
            </a:avLst>
          </a:prstGeom>
          <a:solidFill>
            <a:srgbClr val="EEF2FF"/>
          </a:solidFill>
          <a:ln/>
        </p:spPr>
      </p:sp>
      <p:sp>
        <p:nvSpPr>
          <p:cNvPr id="36" name="Shape 34"/>
          <p:cNvSpPr/>
          <p:nvPr/>
        </p:nvSpPr>
        <p:spPr>
          <a:xfrm>
            <a:off x="952805" y="765353"/>
            <a:ext cx="38405" cy="371246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37" name="Shape 35"/>
          <p:cNvSpPr/>
          <p:nvPr/>
        </p:nvSpPr>
        <p:spPr>
          <a:xfrm>
            <a:off x="952805" y="4366260"/>
            <a:ext cx="1904695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F7FAFC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190549" y="46040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5" b="-45"/>
          <a:stretch/>
        </p:blipFill>
        <p:spPr>
          <a:xfrm>
            <a:off x="1290218" y="4718304"/>
            <a:ext cx="256946" cy="228600"/>
          </a:xfrm>
          <a:prstGeom prst="rect">
            <a:avLst/>
          </a:prstGeom>
        </p:spPr>
      </p:pic>
      <p:sp>
        <p:nvSpPr>
          <p:cNvPr id="40" name="Shape 37"/>
          <p:cNvSpPr/>
          <p:nvPr/>
        </p:nvSpPr>
        <p:spPr>
          <a:xfrm>
            <a:off x="3086100" y="4366260"/>
            <a:ext cx="1904695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F7FAFC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323844" y="46040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pic>
        <p:nvPicPr>
          <p:cNvPr id="42" name="Image 1" descr="preencoded.png">    </p:cNvPr>
          <p:cNvPicPr>
            <a:picLocks noChangeAspect="1"/>
          </p:cNvPicPr>
          <p:nvPr/>
        </p:nvPicPr>
        <p:blipFill>
          <a:blip r:embed="rId2"/>
          <a:srcRect l="-80" r="-80" t="0" b="0"/>
          <a:stretch/>
        </p:blipFill>
        <p:spPr>
          <a:xfrm>
            <a:off x="3409798" y="4718304"/>
            <a:ext cx="286207" cy="228600"/>
          </a:xfrm>
          <a:prstGeom prst="rect">
            <a:avLst/>
          </a:prstGeom>
        </p:spPr>
      </p:pic>
      <p:sp>
        <p:nvSpPr>
          <p:cNvPr id="43" name="Shape 39"/>
          <p:cNvSpPr/>
          <p:nvPr/>
        </p:nvSpPr>
        <p:spPr>
          <a:xfrm>
            <a:off x="5219395" y="4366260"/>
            <a:ext cx="1904695" cy="1733702"/>
          </a:xfrm>
          <a:prstGeom prst="roundRect">
            <a:avLst>
              <a:gd name="adj" fmla="val 4637"/>
            </a:avLst>
          </a:prstGeom>
          <a:solidFill>
            <a:srgbClr val="FFFFFF"/>
          </a:solidFill>
          <a:ln w="12700">
            <a:solidFill>
              <a:srgbClr val="F7FAFC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5458054" y="46040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/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572354" y="4718304"/>
            <a:ext cx="228600" cy="228600"/>
          </a:xfrm>
          <a:prstGeom prst="rect">
            <a:avLst/>
          </a:prstGeom>
        </p:spPr>
      </p:pic>
      <p:sp>
        <p:nvSpPr>
          <p:cNvPr id="46" name="Text 41"/>
          <p:cNvSpPr txBox="1"/>
          <p:nvPr/>
        </p:nvSpPr>
        <p:spPr>
          <a:xfrm>
            <a:off x="1143000" y="841248"/>
            <a:ext cx="21287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A6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 교육대학원 기술교과 과정</a:t>
            </a:r>
            <a:endParaRPr lang="en-US" sz="1100" dirty="0"/>
          </a:p>
        </p:txBody>
      </p:sp>
      <p:sp>
        <p:nvSpPr>
          <p:cNvPr id="47" name="Text 42"/>
          <p:cNvSpPr txBox="1"/>
          <p:nvPr/>
        </p:nvSpPr>
        <p:spPr>
          <a:xfrm>
            <a:off x="952805" y="1296619"/>
            <a:ext cx="7658100" cy="1762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교육대학원 바이브코딩 강의 커리큘럼</a:t>
            </a:r>
            <a:endParaRPr lang="en-US" sz="5400" dirty="0"/>
          </a:p>
        </p:txBody>
      </p:sp>
      <p:sp>
        <p:nvSpPr>
          <p:cNvPr id="48" name="Text 43"/>
          <p:cNvSpPr txBox="1"/>
          <p:nvPr/>
        </p:nvSpPr>
        <p:spPr>
          <a:xfrm>
            <a:off x="952805" y="3167482"/>
            <a:ext cx="6906463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중고등학교 기술교과 예비교사를 위한 8차시(16주) 실습 중심 커리큘럼.</a:t>
            </a:r>
            <a:endParaRPr lang="en-US" sz="1800" dirty="0"/>
          </a:p>
        </p:txBody>
      </p:sp>
      <p:sp>
        <p:nvSpPr>
          <p:cNvPr id="49" name="Text 44"/>
          <p:cNvSpPr txBox="1"/>
          <p:nvPr/>
        </p:nvSpPr>
        <p:spPr>
          <a:xfrm>
            <a:off x="952805" y="3533242"/>
            <a:ext cx="7439558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Antigravity와 함께하는 새로운 코딩 교육의 패러다임을 경험하세요.</a:t>
            </a:r>
            <a:endParaRPr lang="en-US" sz="1800" dirty="0"/>
          </a:p>
        </p:txBody>
      </p:sp>
      <p:sp>
        <p:nvSpPr>
          <p:cNvPr id="50" name="Text 45"/>
          <p:cNvSpPr txBox="1"/>
          <p:nvPr/>
        </p:nvSpPr>
        <p:spPr>
          <a:xfrm>
            <a:off x="1190549" y="5213909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</a:t>
            </a:r>
            <a:endParaRPr lang="en-US" sz="1200" dirty="0"/>
          </a:p>
        </p:txBody>
      </p:sp>
      <p:sp>
        <p:nvSpPr>
          <p:cNvPr id="51" name="Text 46"/>
          <p:cNvSpPr txBox="1"/>
          <p:nvPr/>
        </p:nvSpPr>
        <p:spPr>
          <a:xfrm>
            <a:off x="1190549" y="5481828"/>
            <a:ext cx="10881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자연어로 완성하는</a:t>
            </a:r>
            <a:endParaRPr lang="en-US" sz="1000" dirty="0"/>
          </a:p>
        </p:txBody>
      </p:sp>
      <p:sp>
        <p:nvSpPr>
          <p:cNvPr id="52" name="Text 47"/>
          <p:cNvSpPr txBox="1"/>
          <p:nvPr/>
        </p:nvSpPr>
        <p:spPr>
          <a:xfrm>
            <a:off x="1190549" y="5663794"/>
            <a:ext cx="13642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강력한 웹 애플리케이션</a:t>
            </a:r>
            <a:endParaRPr lang="en-US" sz="1000" dirty="0"/>
          </a:p>
        </p:txBody>
      </p:sp>
      <p:sp>
        <p:nvSpPr>
          <p:cNvPr id="53" name="Text 48"/>
          <p:cNvSpPr txBox="1"/>
          <p:nvPr/>
        </p:nvSpPr>
        <p:spPr>
          <a:xfrm>
            <a:off x="3323844" y="5213909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중심 교육</a:t>
            </a:r>
            <a:endParaRPr lang="en-US" sz="1200" dirty="0"/>
          </a:p>
        </p:txBody>
      </p:sp>
      <p:sp>
        <p:nvSpPr>
          <p:cNvPr id="54" name="Text 49"/>
          <p:cNvSpPr txBox="1"/>
          <p:nvPr/>
        </p:nvSpPr>
        <p:spPr>
          <a:xfrm>
            <a:off x="3323844" y="5481828"/>
            <a:ext cx="10405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8차시(16주) 동안</a:t>
            </a:r>
            <a:endParaRPr lang="en-US" sz="1000" dirty="0"/>
          </a:p>
        </p:txBody>
      </p:sp>
      <p:sp>
        <p:nvSpPr>
          <p:cNvPr id="55" name="Text 50"/>
          <p:cNvSpPr txBox="1"/>
          <p:nvPr/>
        </p:nvSpPr>
        <p:spPr>
          <a:xfrm>
            <a:off x="3323844" y="5663794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완성하는 나만의 앱</a:t>
            </a:r>
            <a:endParaRPr lang="en-US" sz="1000" dirty="0"/>
          </a:p>
        </p:txBody>
      </p:sp>
      <p:sp>
        <p:nvSpPr>
          <p:cNvPr id="56" name="Text 51"/>
          <p:cNvSpPr txBox="1"/>
          <p:nvPr/>
        </p:nvSpPr>
        <p:spPr>
          <a:xfrm>
            <a:off x="5458054" y="5213909"/>
            <a:ext cx="758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현장 적용</a:t>
            </a:r>
            <a:endParaRPr lang="en-US" sz="1200" dirty="0"/>
          </a:p>
        </p:txBody>
      </p:sp>
      <p:sp>
        <p:nvSpPr>
          <p:cNvPr id="57" name="Text 52"/>
          <p:cNvSpPr txBox="1"/>
          <p:nvPr/>
        </p:nvSpPr>
        <p:spPr>
          <a:xfrm>
            <a:off x="5458054" y="5481828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교실에서 즉시 활용</a:t>
            </a:r>
            <a:endParaRPr lang="en-US" sz="1000" dirty="0"/>
          </a:p>
        </p:txBody>
      </p:sp>
      <p:sp>
        <p:nvSpPr>
          <p:cNvPr id="58" name="Text 53"/>
          <p:cNvSpPr txBox="1"/>
          <p:nvPr/>
        </p:nvSpPr>
        <p:spPr>
          <a:xfrm>
            <a:off x="5458054" y="5663794"/>
            <a:ext cx="11265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가능한 결과물 제작</a:t>
            </a:r>
            <a:endParaRPr lang="en-US" sz="1000" dirty="0"/>
          </a:p>
        </p:txBody>
      </p:sp>
      <p:sp>
        <p:nvSpPr>
          <p:cNvPr id="59" name="Text 54"/>
          <p:cNvSpPr txBox="1"/>
          <p:nvPr/>
        </p:nvSpPr>
        <p:spPr>
          <a:xfrm>
            <a:off x="3497580" y="6362395"/>
            <a:ext cx="5300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Designed for Technology Education Graduate Students | 8 Sessions (16 Weeks) Course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905902" y="-952805"/>
            <a:ext cx="4762195" cy="4762195"/>
          </a:xfrm>
          <a:prstGeom prst="ellipse">
            <a:avLst/>
          </a:prstGeom>
          <a:solidFill>
            <a:srgbClr val="F0F4FF"/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2572207"/>
            <a:ext cx="5715000" cy="5715000"/>
          </a:xfrm>
          <a:prstGeom prst="ellipse">
            <a:avLst/>
          </a:prstGeom>
          <a:solidFill>
            <a:srgbClr val="F7FAFC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2025396"/>
            <a:ext cx="3409798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0354" y="22631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1143000" y="2396642"/>
            <a:ext cx="171907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394606" y="2025396"/>
            <a:ext cx="3409798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2350" y="22631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65853" y="2396642"/>
            <a:ext cx="190195" cy="19019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26603" y="2025396"/>
            <a:ext cx="3409798" cy="2048256"/>
          </a:xfrm>
          <a:prstGeom prst="roundRect">
            <a:avLst>
              <a:gd name="adj" fmla="val 3322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264347" y="22631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74075" y="2396642"/>
            <a:ext cx="237744" cy="19019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264347" y="3517697"/>
            <a:ext cx="2933395" cy="114300"/>
          </a:xfrm>
          <a:prstGeom prst="roundRect">
            <a:avLst>
              <a:gd name="adj" fmla="val 400000"/>
            </a:avLst>
          </a:prstGeom>
          <a:solidFill>
            <a:srgbClr val="E2E8F0"/>
          </a:solidFill>
          <a:ln/>
        </p:spPr>
      </p:sp>
      <p:sp>
        <p:nvSpPr>
          <p:cNvPr id="16" name="Shape 11"/>
          <p:cNvSpPr/>
          <p:nvPr/>
        </p:nvSpPr>
        <p:spPr>
          <a:xfrm>
            <a:off x="8264347" y="3517697"/>
            <a:ext cx="886054" cy="1143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7" name="Shape 12"/>
          <p:cNvSpPr/>
          <p:nvPr/>
        </p:nvSpPr>
        <p:spPr>
          <a:xfrm>
            <a:off x="761695" y="4298594"/>
            <a:ext cx="7039051" cy="2152498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1000354" y="453633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33856" y="4669841"/>
            <a:ext cx="190195" cy="19019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1000354" y="5488229"/>
            <a:ext cx="2009851" cy="323698"/>
          </a:xfrm>
          <a:prstGeom prst="roundRect">
            <a:avLst>
              <a:gd name="adj" fmla="val 66467"/>
            </a:avLst>
          </a:prstGeom>
          <a:solidFill>
            <a:srgbClr val="DBEAFE"/>
          </a:solidFill>
          <a:ln/>
        </p:spPr>
      </p:sp>
      <p:sp>
        <p:nvSpPr>
          <p:cNvPr id="21" name="Shape 15"/>
          <p:cNvSpPr/>
          <p:nvPr/>
        </p:nvSpPr>
        <p:spPr>
          <a:xfrm>
            <a:off x="3076956" y="5488229"/>
            <a:ext cx="961949" cy="323698"/>
          </a:xfrm>
          <a:prstGeom prst="roundRect">
            <a:avLst>
              <a:gd name="adj" fmla="val 66467"/>
            </a:avLst>
          </a:prstGeom>
          <a:solidFill>
            <a:srgbClr val="EDE9FE"/>
          </a:solidFill>
          <a:ln/>
        </p:spPr>
      </p:sp>
      <p:sp>
        <p:nvSpPr>
          <p:cNvPr id="22" name="Shape 16"/>
          <p:cNvSpPr/>
          <p:nvPr/>
        </p:nvSpPr>
        <p:spPr>
          <a:xfrm>
            <a:off x="4114800" y="5488229"/>
            <a:ext cx="705002" cy="323698"/>
          </a:xfrm>
          <a:prstGeom prst="roundRect">
            <a:avLst>
              <a:gd name="adj" fmla="val 66467"/>
            </a:avLst>
          </a:prstGeom>
          <a:solidFill>
            <a:srgbClr val="1F2937"/>
          </a:solidFill>
          <a:ln/>
        </p:spPr>
      </p:sp>
      <p:sp>
        <p:nvSpPr>
          <p:cNvPr id="23" name="Shape 17"/>
          <p:cNvSpPr/>
          <p:nvPr/>
        </p:nvSpPr>
        <p:spPr>
          <a:xfrm>
            <a:off x="4889297" y="5488229"/>
            <a:ext cx="1505102" cy="323698"/>
          </a:xfrm>
          <a:prstGeom prst="roundRect">
            <a:avLst>
              <a:gd name="adj" fmla="val 66467"/>
            </a:avLst>
          </a:prstGeom>
          <a:solidFill>
            <a:srgbClr val="E5E7EB"/>
          </a:solidFill>
          <a:ln/>
        </p:spPr>
      </p:sp>
      <p:sp>
        <p:nvSpPr>
          <p:cNvPr id="24" name="Shape 18"/>
          <p:cNvSpPr/>
          <p:nvPr/>
        </p:nvSpPr>
        <p:spPr>
          <a:xfrm>
            <a:off x="1000354" y="5884164"/>
            <a:ext cx="1571854" cy="323698"/>
          </a:xfrm>
          <a:prstGeom prst="roundRect">
            <a:avLst>
              <a:gd name="adj" fmla="val 66467"/>
            </a:avLst>
          </a:prstGeom>
          <a:solidFill>
            <a:srgbClr val="FEF3C7"/>
          </a:solidFill>
          <a:ln/>
        </p:spPr>
      </p:sp>
      <p:sp>
        <p:nvSpPr>
          <p:cNvPr id="25" name="Shape 19"/>
          <p:cNvSpPr/>
          <p:nvPr/>
        </p:nvSpPr>
        <p:spPr>
          <a:xfrm>
            <a:off x="8026603" y="4298594"/>
            <a:ext cx="3409798" cy="2152498"/>
          </a:xfrm>
          <a:prstGeom prst="roundRect">
            <a:avLst>
              <a:gd name="adj" fmla="val 3007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64347" y="453633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397850" y="4669841"/>
            <a:ext cx="190195" cy="19019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761695" y="476402"/>
            <a:ext cx="942746" cy="323698"/>
          </a:xfrm>
          <a:prstGeom prst="roundRect">
            <a:avLst>
              <a:gd name="adj" fmla="val 166168"/>
            </a:avLst>
          </a:prstGeom>
          <a:solidFill>
            <a:srgbClr val="E2E8F0"/>
          </a:solidFill>
          <a:ln/>
        </p:spPr>
      </p:sp>
      <p:sp>
        <p:nvSpPr>
          <p:cNvPr id="29" name="Text 22"/>
          <p:cNvSpPr txBox="1"/>
          <p:nvPr/>
        </p:nvSpPr>
        <p:spPr>
          <a:xfrm>
            <a:off x="914400" y="533095"/>
            <a:ext cx="741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Overview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61695" y="824789"/>
            <a:ext cx="216255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강의 개요</a:t>
            </a:r>
            <a:endParaRPr lang="en-US" sz="3600" dirty="0"/>
          </a:p>
        </p:txBody>
      </p:sp>
      <p:sp>
        <p:nvSpPr>
          <p:cNvPr id="31" name="Text 24"/>
          <p:cNvSpPr txBox="1"/>
          <p:nvPr/>
        </p:nvSpPr>
        <p:spPr>
          <a:xfrm>
            <a:off x="761695" y="1487729"/>
            <a:ext cx="2897734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Introduction to Vibe Coding Course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9985248" y="1012241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ID: VC-2026-EDU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3311042" y="2377440"/>
            <a:ext cx="7342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000354" y="2958998"/>
            <a:ext cx="159837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교육대학원 학생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1000354" y="3281782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중·고등학교 기술교과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1000354" y="3499409"/>
            <a:ext cx="13953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예비교사 및 현직교사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734556" y="2377440"/>
            <a:ext cx="9436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DURATION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4632350" y="3014777"/>
            <a:ext cx="395935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</a:t>
            </a:r>
            <a:endParaRPr lang="en-US" sz="2200" dirty="0"/>
          </a:p>
        </p:txBody>
      </p:sp>
      <p:sp>
        <p:nvSpPr>
          <p:cNvPr id="39" name="Text 32"/>
          <p:cNvSpPr txBox="1"/>
          <p:nvPr/>
        </p:nvSpPr>
        <p:spPr>
          <a:xfrm>
            <a:off x="4882896" y="3129077"/>
            <a:ext cx="400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차시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5315407" y="3167482"/>
            <a:ext cx="162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5509260" y="3014777"/>
            <a:ext cx="56692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2200" dirty="0"/>
          </a:p>
        </p:txBody>
      </p:sp>
      <p:sp>
        <p:nvSpPr>
          <p:cNvPr id="42" name="Text 35"/>
          <p:cNvSpPr txBox="1"/>
          <p:nvPr/>
        </p:nvSpPr>
        <p:spPr>
          <a:xfrm>
            <a:off x="5933542" y="3129077"/>
            <a:ext cx="257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</a:t>
            </a:r>
            <a:endParaRPr lang="en-US" sz="1200" dirty="0"/>
          </a:p>
        </p:txBody>
      </p:sp>
      <p:sp>
        <p:nvSpPr>
          <p:cNvPr id="43" name="Text 36"/>
          <p:cNvSpPr txBox="1"/>
          <p:nvPr/>
        </p:nvSpPr>
        <p:spPr>
          <a:xfrm>
            <a:off x="4632350" y="3434486"/>
            <a:ext cx="23756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8차시 × 2주 = 16주 과정 (격주 심화)</a:t>
            </a:r>
            <a:endParaRPr lang="en-US" sz="1100" dirty="0"/>
          </a:p>
        </p:txBody>
      </p:sp>
      <p:sp>
        <p:nvSpPr>
          <p:cNvPr id="44" name="Text 37"/>
          <p:cNvSpPr txBox="1"/>
          <p:nvPr/>
        </p:nvSpPr>
        <p:spPr>
          <a:xfrm>
            <a:off x="10502798" y="2377440"/>
            <a:ext cx="810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METHOD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8264347" y="2844698"/>
            <a:ext cx="14365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PBL 스튜디오</a:t>
            </a:r>
            <a:endParaRPr lang="en-US" sz="1600" dirty="0"/>
          </a:p>
        </p:txBody>
      </p:sp>
      <p:sp>
        <p:nvSpPr>
          <p:cNvPr id="46" name="Text 39"/>
          <p:cNvSpPr txBox="1"/>
          <p:nvPr/>
        </p:nvSpPr>
        <p:spPr>
          <a:xfrm>
            <a:off x="8264347" y="3166567"/>
            <a:ext cx="16998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중심 실습형 학습</a:t>
            </a:r>
            <a:endParaRPr lang="en-US" sz="1100" dirty="0"/>
          </a:p>
        </p:txBody>
      </p:sp>
      <p:sp>
        <p:nvSpPr>
          <p:cNvPr id="47" name="Text 40"/>
          <p:cNvSpPr txBox="1"/>
          <p:nvPr/>
        </p:nvSpPr>
        <p:spPr>
          <a:xfrm>
            <a:off x="8264347" y="3669487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이론 30%</a:t>
            </a:r>
            <a:endParaRPr lang="en-US" sz="900" dirty="0"/>
          </a:p>
        </p:txBody>
      </p:sp>
      <p:sp>
        <p:nvSpPr>
          <p:cNvPr id="48" name="Text 41"/>
          <p:cNvSpPr txBox="1"/>
          <p:nvPr/>
        </p:nvSpPr>
        <p:spPr>
          <a:xfrm>
            <a:off x="10717682" y="3669487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70%</a:t>
            </a:r>
            <a:endParaRPr lang="en-US" sz="900" dirty="0"/>
          </a:p>
        </p:txBody>
      </p:sp>
      <p:sp>
        <p:nvSpPr>
          <p:cNvPr id="49" name="Text 42"/>
          <p:cNvSpPr txBox="1"/>
          <p:nvPr/>
        </p:nvSpPr>
        <p:spPr>
          <a:xfrm>
            <a:off x="6319418" y="4650638"/>
            <a:ext cx="1362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TOOLS &amp; STACK</a:t>
            </a:r>
            <a:endParaRPr lang="en-US" sz="1200" dirty="0"/>
          </a:p>
        </p:txBody>
      </p:sp>
      <p:sp>
        <p:nvSpPr>
          <p:cNvPr id="50" name="Text 43"/>
          <p:cNvSpPr txBox="1"/>
          <p:nvPr/>
        </p:nvSpPr>
        <p:spPr>
          <a:xfrm>
            <a:off x="1000354" y="5117897"/>
            <a:ext cx="337962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Antigravity 중심 AI 코딩</a:t>
            </a:r>
            <a:endParaRPr lang="en-US" sz="1600" dirty="0"/>
          </a:p>
        </p:txBody>
      </p:sp>
      <p:sp>
        <p:nvSpPr>
          <p:cNvPr id="51" name="Text 44"/>
          <p:cNvSpPr txBox="1"/>
          <p:nvPr/>
        </p:nvSpPr>
        <p:spPr>
          <a:xfrm>
            <a:off x="1114654" y="5544922"/>
            <a:ext cx="18845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Antigravity (AI IDE)</a:t>
            </a:r>
            <a:endParaRPr lang="en-US" sz="1000" dirty="0"/>
          </a:p>
        </p:txBody>
      </p:sp>
      <p:sp>
        <p:nvSpPr>
          <p:cNvPr id="52" name="Text 45"/>
          <p:cNvSpPr txBox="1"/>
          <p:nvPr/>
        </p:nvSpPr>
        <p:spPr>
          <a:xfrm>
            <a:off x="3191256" y="5544922"/>
            <a:ext cx="8366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API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4229100" y="5544922"/>
            <a:ext cx="5797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</a:t>
            </a:r>
            <a:endParaRPr lang="en-US" sz="1000" dirty="0"/>
          </a:p>
        </p:txBody>
      </p:sp>
      <p:sp>
        <p:nvSpPr>
          <p:cNvPr id="54" name="Text 47"/>
          <p:cNvSpPr txBox="1"/>
          <p:nvPr/>
        </p:nvSpPr>
        <p:spPr>
          <a:xfrm>
            <a:off x="5003597" y="5544922"/>
            <a:ext cx="13798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(협업/문서화)</a:t>
            </a:r>
            <a:endParaRPr lang="en-US" sz="1000" dirty="0"/>
          </a:p>
        </p:txBody>
      </p:sp>
      <p:sp>
        <p:nvSpPr>
          <p:cNvPr id="55" name="Text 48"/>
          <p:cNvSpPr txBox="1"/>
          <p:nvPr/>
        </p:nvSpPr>
        <p:spPr>
          <a:xfrm>
            <a:off x="1114654" y="5941771"/>
            <a:ext cx="14465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Prompt Engineering</a:t>
            </a:r>
            <a:endParaRPr lang="en-US" sz="1000" dirty="0"/>
          </a:p>
        </p:txBody>
      </p:sp>
      <p:sp>
        <p:nvSpPr>
          <p:cNvPr id="56" name="Text 49"/>
          <p:cNvSpPr txBox="1"/>
          <p:nvPr/>
        </p:nvSpPr>
        <p:spPr>
          <a:xfrm>
            <a:off x="10525658" y="4650638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1200" dirty="0"/>
          </a:p>
        </p:txBody>
      </p:sp>
      <p:sp>
        <p:nvSpPr>
          <p:cNvPr id="57" name="Text 50"/>
          <p:cNvSpPr txBox="1"/>
          <p:nvPr/>
        </p:nvSpPr>
        <p:spPr>
          <a:xfrm>
            <a:off x="8264347" y="5244084"/>
            <a:ext cx="16559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교육용 웹앱 배포</a:t>
            </a:r>
            <a:endParaRPr lang="en-US" sz="1600" dirty="0"/>
          </a:p>
        </p:txBody>
      </p:sp>
      <p:sp>
        <p:nvSpPr>
          <p:cNvPr id="58" name="Text 51"/>
          <p:cNvSpPr txBox="1"/>
          <p:nvPr/>
        </p:nvSpPr>
        <p:spPr>
          <a:xfrm>
            <a:off x="8264347" y="5643677"/>
            <a:ext cx="14328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교실 현장 활용 가능한</a:t>
            </a:r>
            <a:endParaRPr lang="en-US" sz="1100" dirty="0"/>
          </a:p>
        </p:txBody>
      </p:sp>
      <p:sp>
        <p:nvSpPr>
          <p:cNvPr id="59" name="Text 52"/>
          <p:cNvSpPr txBox="1"/>
          <p:nvPr/>
        </p:nvSpPr>
        <p:spPr>
          <a:xfrm>
            <a:off x="8264347" y="5860390"/>
            <a:ext cx="16422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인터랙티브 학습 도구 1종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667EEA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3047695"/>
            <a:ext cx="6667805" cy="6667805"/>
          </a:xfrm>
          <a:prstGeom prst="ellipse">
            <a:avLst/>
          </a:prstGeom>
          <a:solidFill>
            <a:srgbClr val="764BA2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647749"/>
            <a:ext cx="761695" cy="57607"/>
          </a:xfrm>
          <a:prstGeom prst="roundRect">
            <a:avLst>
              <a:gd name="adj" fmla="val 793654"/>
            </a:avLst>
          </a:prstGeom>
          <a:solidFill>
            <a:srgbClr val="667E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61695" y="485546"/>
            <a:ext cx="2105863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238098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과정을 통해 달성하게 될 6가지 핵심 역량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61695" y="2085746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0354" y="232440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1119226" y="2457907"/>
            <a:ext cx="219456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3649370" y="2324405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000354" y="2933395"/>
            <a:ext cx="15032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개념 및 워크플로우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000354" y="3320186"/>
            <a:ext cx="3027578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바이브코딩의 핵심 개념을 이해하고, AI 도구를 활용한 효율적인 코딩 워크플로우를 설명할 수 있습니다.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394606" y="2085746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32350" y="232440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4751222" y="2457907"/>
            <a:ext cx="219456" cy="19019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281367" y="2324405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4632350" y="2933395"/>
            <a:ext cx="13030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문서화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4632350" y="3320186"/>
            <a:ext cx="296997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교육과정과 연계된 창의적인 수업 아이디어를 구체화하여 PRD(제품 요구사항 문서)로 작성할 수 있습니다.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8026603" y="2085746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64347" y="232440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97850" y="2457907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913364" y="2324405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8264347" y="2933395"/>
            <a:ext cx="13030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프로토타입 배포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8264347" y="3320186"/>
            <a:ext cx="298003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코딩 도구를 활용하여 빠르게 프로토타입을 생성하고, 이를 개선하여 웹상에 실제 배포할 수 있습니다.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61695" y="4436669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1000354" y="467441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-1282" r="-1282" t="0" b="0"/>
          <a:stretch/>
        </p:blipFill>
        <p:spPr>
          <a:xfrm>
            <a:off x="1119226" y="4807915"/>
            <a:ext cx="219456" cy="190195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3649370" y="46744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1000354" y="5284318"/>
            <a:ext cx="16175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프롬프트 엔지니어링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000354" y="5671109"/>
            <a:ext cx="2922422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역할·맥락·작업(R-C-T) 기반의 정교한 프롬프트 설계를 수행하고, 오류 발생 시 효과적으로 디버깅할 수 있습니다.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394606" y="4436669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4632350" y="467441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5F5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765853" y="4807915"/>
            <a:ext cx="190195" cy="1901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7281367" y="46744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800" dirty="0"/>
          </a:p>
        </p:txBody>
      </p:sp>
      <p:sp>
        <p:nvSpPr>
          <p:cNvPr id="37" name="Text 30"/>
          <p:cNvSpPr txBox="1"/>
          <p:nvPr/>
        </p:nvSpPr>
        <p:spPr>
          <a:xfrm>
            <a:off x="4632350" y="5284318"/>
            <a:ext cx="130302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교육적 고려사항</a:t>
            </a:r>
            <a:endParaRPr lang="en-US" sz="1300" dirty="0"/>
          </a:p>
        </p:txBody>
      </p:sp>
      <p:sp>
        <p:nvSpPr>
          <p:cNvPr id="38" name="Text 31"/>
          <p:cNvSpPr txBox="1"/>
          <p:nvPr/>
        </p:nvSpPr>
        <p:spPr>
          <a:xfrm>
            <a:off x="4632350" y="5671109"/>
            <a:ext cx="289407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학생 평가 기준, 개인정보 보호 및 안전, 저작권 및 윤리 문제를 고려하여 수업을 설계할 수 있습니다.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8026603" y="4436669"/>
            <a:ext cx="3409798" cy="2124151"/>
          </a:xfrm>
          <a:prstGeom prst="roundRect">
            <a:avLst>
              <a:gd name="adj" fmla="val 308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8264347" y="467441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374075" y="4807915"/>
            <a:ext cx="237744" cy="190195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0913364" y="4674413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BD5E0">
                    <a:alpha val="5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1800" dirty="0"/>
          </a:p>
        </p:txBody>
      </p:sp>
      <p:sp>
        <p:nvSpPr>
          <p:cNvPr id="43" name="Text 35"/>
          <p:cNvSpPr txBox="1"/>
          <p:nvPr/>
        </p:nvSpPr>
        <p:spPr>
          <a:xfrm>
            <a:off x="8264347" y="5284318"/>
            <a:ext cx="13990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적용 및 발표</a:t>
            </a:r>
            <a:endParaRPr lang="en-US" sz="1300" dirty="0"/>
          </a:p>
        </p:txBody>
      </p:sp>
      <p:sp>
        <p:nvSpPr>
          <p:cNvPr id="44" name="Text 36"/>
          <p:cNvSpPr txBox="1"/>
          <p:nvPr/>
        </p:nvSpPr>
        <p:spPr>
          <a:xfrm>
            <a:off x="8264347" y="5671109"/>
            <a:ext cx="3027578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완성된 교육용 프로젝트를 발표하고, 이를 실제 교실 수업에 적용할 수 있는 구체적인 방안을 제시합니다.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2857500"/>
            <a:ext cx="7619695" cy="7619695"/>
          </a:xfrm>
          <a:prstGeom prst="ellipse">
            <a:avLst/>
          </a:prstGeom>
          <a:solidFill>
            <a:srgbClr val="667EEA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2095805"/>
            <a:ext cx="7619695" cy="7619695"/>
          </a:xfrm>
          <a:prstGeom prst="ellipse">
            <a:avLst/>
          </a:prstGeom>
          <a:solidFill>
            <a:srgbClr val="764BA2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411480"/>
            <a:ext cx="1037844" cy="448056"/>
          </a:xfrm>
          <a:prstGeom prst="roundRect">
            <a:avLst>
              <a:gd name="adj" fmla="val 52106"/>
            </a:avLst>
          </a:prstGeom>
          <a:solidFill>
            <a:srgbClr val="EBF8FF"/>
          </a:solidFill>
          <a:ln w="12700">
            <a:solidFill>
              <a:srgbClr val="BEE3F8"/>
            </a:solidFill>
            <a:prstDash val="solid"/>
          </a:ln>
          <a:effectLst>
            <a:outerShdw sx="100000" sy="100000" kx="0" ky="0" algn="bl" rotWithShape="0" blurRad="63500" dist="38100" dir="5400000">
              <a:srgbClr val="4299e1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93831" y="499262"/>
            <a:ext cx="629107" cy="276149"/>
          </a:xfrm>
          <a:prstGeom prst="roundRect">
            <a:avLst>
              <a:gd name="adj" fmla="val 68509"/>
            </a:avLst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211580"/>
            <a:ext cx="5905195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811426"/>
            <a:ext cx="5505602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411834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EBF8F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7707" y="1497787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1754" y="1944929"/>
            <a:ext cx="44677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개념 이해: 자연어 프로그래밍의 원리와 AI 협업 방식 학습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1754" y="2268626"/>
            <a:ext cx="5067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구축: Google Antigravity 설치, GitHub 계정 연동 및 워크스페이스 설정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1754" y="2592324"/>
            <a:ext cx="4753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프로토타이핑 실습: 교과 주제 선정 후 PRD 초안 작성 및 랜딩 페이지 제작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" y="3173882"/>
            <a:ext cx="5905195" cy="3305556"/>
          </a:xfrm>
          <a:prstGeom prst="roundRect">
            <a:avLst>
              <a:gd name="adj" fmla="val 1276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1754" y="3773729"/>
            <a:ext cx="5505602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771754" y="3374136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F0FFF4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1507" r="-1507" t="0" b="0"/>
          <a:stretch/>
        </p:blipFill>
        <p:spPr>
          <a:xfrm>
            <a:off x="838505" y="3459175"/>
            <a:ext cx="171907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754" y="3907231"/>
            <a:ext cx="2809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v1: 아이디어 정의서 (영문 작성 권장)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4230929"/>
            <a:ext cx="2714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와이어프레임: 손그림 또는 디지털 스케치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1754" y="4554626"/>
            <a:ext cx="3162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PRD 페이지: 프로젝트 로드맵 및 기획안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1754" y="4878324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"Hello Classroom" 배포 링크: 간단한 자기소개 또는 수업 소개 페이지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702552" y="3386938"/>
            <a:ext cx="4924044" cy="1447495"/>
          </a:xfrm>
          <a:prstGeom prst="roundRect">
            <a:avLst>
              <a:gd name="adj" fmla="val 6650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901891" y="3986784"/>
            <a:ext cx="4524451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25" name="Shape 21"/>
          <p:cNvSpPr/>
          <p:nvPr/>
        </p:nvSpPr>
        <p:spPr>
          <a:xfrm>
            <a:off x="6901891" y="3587191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FFFAF0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-2512" r="-2512" t="0" b="0"/>
          <a:stretch/>
        </p:blipFill>
        <p:spPr>
          <a:xfrm>
            <a:off x="7002475" y="3673145"/>
            <a:ext cx="105156" cy="133502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59" b="-1359"/>
          <a:stretch/>
        </p:blipFill>
        <p:spPr>
          <a:xfrm>
            <a:off x="6901891" y="4158691"/>
            <a:ext cx="105156" cy="123444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6901891" y="4459529"/>
            <a:ext cx="105156" cy="1234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771754" y="497434"/>
            <a:ext cx="7754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1-2차시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1791310" y="295351"/>
            <a:ext cx="50008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기초편: 오리엔테이션 &amp; 첫 프로토타입</a:t>
            </a:r>
            <a:endParaRPr lang="en-US" sz="2400" dirty="0"/>
          </a:p>
        </p:txBody>
      </p:sp>
      <p:sp>
        <p:nvSpPr>
          <p:cNvPr id="31" name="Text 24"/>
          <p:cNvSpPr txBox="1"/>
          <p:nvPr/>
        </p:nvSpPr>
        <p:spPr>
          <a:xfrm>
            <a:off x="1886407" y="743407"/>
            <a:ext cx="401604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바이브코딩 이해, Antigravity 환경설정, 첫 번째 웹앱 제작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11089843" y="536753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1-4주차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90549" y="1443838"/>
            <a:ext cx="12637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&amp; 활동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1190549" y="3406140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및 과제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7321601" y="3619195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활용</a:t>
            </a:r>
            <a:endParaRPr lang="en-US" sz="1200" dirty="0"/>
          </a:p>
        </p:txBody>
      </p:sp>
      <p:sp>
        <p:nvSpPr>
          <p:cNvPr id="36" name="Text 29"/>
          <p:cNvSpPr txBox="1"/>
          <p:nvPr/>
        </p:nvSpPr>
        <p:spPr>
          <a:xfrm>
            <a:off x="7082942" y="4120286"/>
            <a:ext cx="20848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문서화, 프로젝트 로드맵 작성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7082942" y="4422038"/>
            <a:ext cx="1817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일지 템플릿 활용 및 기록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6702552" y="1211580"/>
            <a:ext cx="4924044" cy="2029054"/>
          </a:xfrm>
          <a:prstGeom prst="roundRect">
            <a:avLst>
              <a:gd name="adj" fmla="val 3385"/>
            </a:avLst>
          </a:prstGeom>
          <a:solidFill>
            <a:srgbClr val="F0F5FF"/>
          </a:solidFill>
          <a:ln w="12700">
            <a:solidFill>
              <a:srgbClr val="C3DAF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702552" y="1211580"/>
            <a:ext cx="57607" cy="2004365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0" name="Shape 33"/>
          <p:cNvSpPr/>
          <p:nvPr/>
        </p:nvSpPr>
        <p:spPr>
          <a:xfrm>
            <a:off x="6901891" y="1811426"/>
            <a:ext cx="4524451" cy="19202"/>
          </a:xfrm>
          <a:prstGeom prst="rect">
            <a:avLst/>
          </a:prstGeom>
          <a:solidFill>
            <a:srgbClr val="E9D8FD"/>
          </a:solidFill>
          <a:ln/>
        </p:spPr>
      </p:sp>
      <p:sp>
        <p:nvSpPr>
          <p:cNvPr id="41" name="Shape 34"/>
          <p:cNvSpPr/>
          <p:nvPr/>
        </p:nvSpPr>
        <p:spPr>
          <a:xfrm>
            <a:off x="6901891" y="1411834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FAF5FF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rcRect l="-837" r="-837" t="0" b="0"/>
          <a:stretch/>
        </p:blipFill>
        <p:spPr>
          <a:xfrm>
            <a:off x="6978701" y="1497787"/>
            <a:ext cx="152705" cy="133502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321601" y="1443838"/>
            <a:ext cx="13395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활용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6901891" y="1944929"/>
            <a:ext cx="1952244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6997903" y="1983334"/>
            <a:ext cx="1854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Natural Language Commands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6940296" y="2261311"/>
            <a:ext cx="2701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 내에서 자연어로 코드 생성 및 수정 명령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6901891" y="2528316"/>
            <a:ext cx="1429207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8" name="Text 40"/>
          <p:cNvSpPr txBox="1"/>
          <p:nvPr/>
        </p:nvSpPr>
        <p:spPr>
          <a:xfrm>
            <a:off x="6997903" y="2565806"/>
            <a:ext cx="13304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A67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Cross-surface Agents</a:t>
            </a:r>
            <a:endParaRPr lang="en-US" sz="900" dirty="0"/>
          </a:p>
        </p:txBody>
      </p:sp>
      <p:sp>
        <p:nvSpPr>
          <p:cNvPr id="49" name="Text 41"/>
          <p:cNvSpPr txBox="1"/>
          <p:nvPr/>
        </p:nvSpPr>
        <p:spPr>
          <a:xfrm>
            <a:off x="6940296" y="2844698"/>
            <a:ext cx="2977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에디터, 터미널, 브라우저 간 동기화된 에이전트 제어</a:t>
            </a:r>
            <a:endParaRPr lang="en-US" sz="1000" dirty="0"/>
          </a:p>
        </p:txBody>
      </p:sp>
      <p:sp>
        <p:nvSpPr>
          <p:cNvPr id="50" name="Shape 42"/>
          <p:cNvSpPr/>
          <p:nvPr/>
        </p:nvSpPr>
        <p:spPr>
          <a:xfrm>
            <a:off x="6702552" y="5180990"/>
            <a:ext cx="4924044" cy="1304849"/>
          </a:xfrm>
          <a:prstGeom prst="roundRect">
            <a:avLst>
              <a:gd name="adj" fmla="val 6138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2000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864401" y="5095951"/>
            <a:ext cx="1067105" cy="200254"/>
          </a:xfrm>
          <a:prstGeom prst="roundRect">
            <a:avLst>
              <a:gd name="adj" fmla="val 260926"/>
            </a:avLst>
          </a:prstGeom>
          <a:solidFill>
            <a:srgbClr val="4299E1"/>
          </a:solidFill>
          <a:ln/>
        </p:spPr>
      </p:sp>
      <p:sp>
        <p:nvSpPr>
          <p:cNvPr id="52" name="Text 44"/>
          <p:cNvSpPr txBox="1"/>
          <p:nvPr/>
        </p:nvSpPr>
        <p:spPr>
          <a:xfrm>
            <a:off x="6959498" y="5114239"/>
            <a:ext cx="956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 Prompt</a:t>
            </a:r>
            <a:endParaRPr lang="en-US" sz="800" dirty="0"/>
          </a:p>
        </p:txBody>
      </p:sp>
      <p:sp>
        <p:nvSpPr>
          <p:cNvPr id="53" name="Text 45"/>
          <p:cNvSpPr txBox="1"/>
          <p:nvPr/>
        </p:nvSpPr>
        <p:spPr>
          <a:xfrm>
            <a:off x="6864401" y="5362042"/>
            <a:ext cx="454548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responsive landing page for a 'Renewable Energy Lab' class with a navbar, a hero section with a large title, 3 feature cards for curriculum highlights, and a footer. Style it with a bright, nature-inspired education theme using Tailwind CSS."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2857500"/>
            <a:ext cx="7619695" cy="7619695"/>
          </a:xfrm>
          <a:prstGeom prst="ellipse">
            <a:avLst/>
          </a:prstGeom>
          <a:solidFill>
            <a:srgbClr val="4FACFE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2095805"/>
            <a:ext cx="7619695" cy="7619695"/>
          </a:xfrm>
          <a:prstGeom prst="ellipse">
            <a:avLst/>
          </a:prstGeom>
          <a:solidFill>
            <a:srgbClr val="00F2FE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34924"/>
            <a:ext cx="1037844" cy="448056"/>
          </a:xfrm>
          <a:prstGeom prst="roundRect">
            <a:avLst>
              <a:gd name="adj" fmla="val 52106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  <a:effectLst>
            <a:outerShdw sx="100000" sy="100000" kx="0" ky="0" algn="bl" rotWithShape="0" blurRad="63500" dist="38100" dir="5400000">
              <a:srgbClr val="48bb78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93831" y="622706"/>
            <a:ext cx="629107" cy="276149"/>
          </a:xfrm>
          <a:prstGeom prst="roundRect">
            <a:avLst>
              <a:gd name="adj" fmla="val 68509"/>
            </a:avLst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64285"/>
            <a:ext cx="5876849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9244" y="1963217"/>
            <a:ext cx="540044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809244" y="156362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0FFF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1507" r="-1507" t="0" b="0"/>
          <a:stretch/>
        </p:blipFill>
        <p:spPr>
          <a:xfrm>
            <a:off x="875995" y="1649578"/>
            <a:ext cx="171907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244" y="2097634"/>
            <a:ext cx="4457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인터랙션 이해: 버튼, 입력폼, 드래그 앤 드롭 등 사용자 상호작용 구현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421331"/>
            <a:ext cx="40581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로직 설계: 점수 계산, 타이머, 정답/오답 피드백 처리 로직 학습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2745029"/>
            <a:ext cx="3629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앱 제작: 영단어 퀴즈 또는 구구단 게임 만들기 실습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" y="3364078"/>
            <a:ext cx="5876849" cy="3133649"/>
          </a:xfrm>
          <a:prstGeom prst="roundRect">
            <a:avLst>
              <a:gd name="adj" fmla="val 141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09244" y="3963924"/>
            <a:ext cx="540044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809244" y="356433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FFFAF0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886054" y="3650285"/>
            <a:ext cx="152705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09244" y="4097426"/>
            <a:ext cx="3581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앱 배포: 퀴즈 또는 간단한 게임 앱 (기능 3개 이상)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809244" y="4421124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사용성 체크리스트: 친구/동료 피드백 3건 이상 반영 내역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" y="4745736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게이미피케이션 요소: 점수판, 배지, 또는 레벨 시스템 적용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6728155" y="3425342"/>
            <a:ext cx="4895698" cy="1619402"/>
          </a:xfrm>
          <a:prstGeom prst="roundRect">
            <a:avLst>
              <a:gd name="adj" fmla="val 53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965899" y="3987698"/>
            <a:ext cx="4457700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24" name="Shape 20"/>
          <p:cNvSpPr/>
          <p:nvPr/>
        </p:nvSpPr>
        <p:spPr>
          <a:xfrm>
            <a:off x="6965899" y="3587191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DF2F7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-2838" r="-2838" t="0" b="0"/>
          <a:stretch/>
        </p:blipFill>
        <p:spPr>
          <a:xfrm>
            <a:off x="7056425" y="3673145"/>
            <a:ext cx="123444" cy="13350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59" b="-1359"/>
          <a:stretch/>
        </p:blipFill>
        <p:spPr>
          <a:xfrm>
            <a:off x="6965899" y="4111142"/>
            <a:ext cx="105156" cy="12344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965899" y="4411980"/>
            <a:ext cx="123444" cy="123444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524" b="-524"/>
          <a:stretch/>
        </p:blipFill>
        <p:spPr>
          <a:xfrm>
            <a:off x="6965899" y="4712818"/>
            <a:ext cx="152705" cy="123444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71754" y="620878"/>
            <a:ext cx="7754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3-4차시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1791310" y="381305"/>
            <a:ext cx="489021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활용편: 인터랙티브 콘텐츠 &amp; 퀴즈</a:t>
            </a:r>
            <a:endParaRPr lang="en-US" sz="2600" dirty="0"/>
          </a:p>
        </p:txBody>
      </p:sp>
      <p:sp>
        <p:nvSpPr>
          <p:cNvPr id="31" name="Text 23"/>
          <p:cNvSpPr txBox="1"/>
          <p:nvPr/>
        </p:nvSpPr>
        <p:spPr>
          <a:xfrm>
            <a:off x="1886407" y="884225"/>
            <a:ext cx="4583887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DOM 이벤트 제어, 퀴즈 앱 로직 구현, 게이미피케이션 요소 추가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11089843" y="661111"/>
            <a:ext cx="535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5-8주차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1228954" y="1596542"/>
            <a:ext cx="12637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&amp; 활동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1228954" y="3596335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및 과제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7385609" y="3619195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활용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7166153" y="4072738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피드백 수집 데이터베이스 구축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7185355" y="4374490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버그 트래킹 및 이슈 관리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7213702" y="4675327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테스트 기록 및 분석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6728155" y="1364285"/>
            <a:ext cx="4895698" cy="1914754"/>
          </a:xfrm>
          <a:prstGeom prst="roundRect">
            <a:avLst>
              <a:gd name="adj" fmla="val 3801"/>
            </a:avLst>
          </a:prstGeom>
          <a:solidFill>
            <a:srgbClr val="F0FFF4"/>
          </a:solidFill>
          <a:ln w="12700">
            <a:solidFill>
              <a:srgbClr val="C6F6D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6728155" y="1364285"/>
            <a:ext cx="57607" cy="1890065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41" name="Shape 33"/>
          <p:cNvSpPr/>
          <p:nvPr/>
        </p:nvSpPr>
        <p:spPr>
          <a:xfrm>
            <a:off x="6965899" y="1963217"/>
            <a:ext cx="4419295" cy="19202"/>
          </a:xfrm>
          <a:prstGeom prst="rect">
            <a:avLst/>
          </a:prstGeom>
          <a:solidFill>
            <a:srgbClr val="C6F6D5"/>
          </a:solidFill>
          <a:ln/>
        </p:spPr>
      </p:sp>
      <p:sp>
        <p:nvSpPr>
          <p:cNvPr id="42" name="Shape 34"/>
          <p:cNvSpPr/>
          <p:nvPr/>
        </p:nvSpPr>
        <p:spPr>
          <a:xfrm>
            <a:off x="6965899" y="1563624"/>
            <a:ext cx="304495" cy="304495"/>
          </a:xfrm>
          <a:prstGeom prst="roundRect">
            <a:avLst>
              <a:gd name="adj" fmla="val 75075"/>
            </a:avLst>
          </a:prstGeom>
          <a:solidFill>
            <a:srgbClr val="EBF8FF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-1507" r="-1507" t="0" b="0"/>
          <a:stretch/>
        </p:blipFill>
        <p:spPr>
          <a:xfrm>
            <a:off x="7032650" y="1649578"/>
            <a:ext cx="171907" cy="13350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7385609" y="1596542"/>
            <a:ext cx="18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활용 포인트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6965899" y="2097634"/>
            <a:ext cx="1686154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6" name="Text 37"/>
          <p:cNvSpPr txBox="1"/>
          <p:nvPr/>
        </p:nvSpPr>
        <p:spPr>
          <a:xfrm>
            <a:off x="7060997" y="2135124"/>
            <a:ext cx="15873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Higher-level Abstractions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7004304" y="2384755"/>
            <a:ext cx="2905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"퀴즈 로직 구현"과 같은 상위 수준의 작업 지시 및 모니터링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965899" y="2623414"/>
            <a:ext cx="1390802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5400" dist="12700" dir="5400000">
              <a:srgbClr val="000000">
                <a:alpha val="5000"/>
              </a:srgbClr>
            </a:outerShdw>
          </a:effectLst>
        </p:spPr>
      </p:sp>
      <p:sp>
        <p:nvSpPr>
          <p:cNvPr id="49" name="Text 40"/>
          <p:cNvSpPr txBox="1"/>
          <p:nvPr/>
        </p:nvSpPr>
        <p:spPr>
          <a:xfrm>
            <a:off x="7060997" y="2660904"/>
            <a:ext cx="129204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Feedback Loop</a:t>
            </a:r>
            <a:endParaRPr lang="en-US" sz="900" dirty="0"/>
          </a:p>
        </p:txBody>
      </p:sp>
      <p:sp>
        <p:nvSpPr>
          <p:cNvPr id="50" name="Text 41"/>
          <p:cNvSpPr txBox="1"/>
          <p:nvPr/>
        </p:nvSpPr>
        <p:spPr>
          <a:xfrm>
            <a:off x="7004304" y="2910535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실행 결과(Artifacts)를 보며 자연어로 즉각적인 피드백 및 수정 요청</a:t>
            </a:r>
            <a:endParaRPr lang="en-US" sz="900" dirty="0"/>
          </a:p>
        </p:txBody>
      </p:sp>
      <p:sp>
        <p:nvSpPr>
          <p:cNvPr id="51" name="Shape 42"/>
          <p:cNvSpPr/>
          <p:nvPr/>
        </p:nvSpPr>
        <p:spPr>
          <a:xfrm>
            <a:off x="6728155" y="5195621"/>
            <a:ext cx="4895698" cy="1304849"/>
          </a:xfrm>
          <a:prstGeom prst="roundRect">
            <a:avLst>
              <a:gd name="adj" fmla="val 6138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20000"/>
              </a:srgbClr>
            </a:outerShdw>
          </a:effectLst>
        </p:spPr>
      </p:sp>
      <p:sp>
        <p:nvSpPr>
          <p:cNvPr id="52" name="Shape 43"/>
          <p:cNvSpPr/>
          <p:nvPr/>
        </p:nvSpPr>
        <p:spPr>
          <a:xfrm>
            <a:off x="6928409" y="5109667"/>
            <a:ext cx="1067105" cy="200254"/>
          </a:xfrm>
          <a:prstGeom prst="roundRect">
            <a:avLst>
              <a:gd name="adj" fmla="val 217438"/>
            </a:avLst>
          </a:prstGeom>
          <a:solidFill>
            <a:srgbClr val="48BB78"/>
          </a:solidFill>
          <a:ln/>
        </p:spPr>
      </p:sp>
      <p:sp>
        <p:nvSpPr>
          <p:cNvPr id="53" name="Text 44"/>
          <p:cNvSpPr txBox="1"/>
          <p:nvPr/>
        </p:nvSpPr>
        <p:spPr>
          <a:xfrm>
            <a:off x="7023506" y="5128870"/>
            <a:ext cx="956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 Prompt</a:t>
            </a:r>
            <a:endParaRPr lang="en-US" sz="800" dirty="0"/>
          </a:p>
        </p:txBody>
      </p:sp>
      <p:sp>
        <p:nvSpPr>
          <p:cNvPr id="54" name="Text 45"/>
          <p:cNvSpPr txBox="1"/>
          <p:nvPr/>
        </p:nvSpPr>
        <p:spPr>
          <a:xfrm>
            <a:off x="6928409" y="5376672"/>
            <a:ext cx="454548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"Build a vocabulary quiz app. It should have a start screen, 10 multiple-choice questions loaded from a JSON object, a 15-second timer per question, and a final score screen. Add a 'confetti' animation effect when the user gets a perfect score."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2857500"/>
            <a:ext cx="7619695" cy="7619695"/>
          </a:xfrm>
          <a:prstGeom prst="ellipse">
            <a:avLst/>
          </a:prstGeom>
          <a:solidFill>
            <a:srgbClr val="667EEA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2095805"/>
            <a:ext cx="7619695" cy="7619695"/>
          </a:xfrm>
          <a:prstGeom prst="ellipse">
            <a:avLst/>
          </a:prstGeom>
          <a:solidFill>
            <a:srgbClr val="764BA2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34924"/>
            <a:ext cx="1037844" cy="448056"/>
          </a:xfrm>
          <a:prstGeom prst="roundRect">
            <a:avLst>
              <a:gd name="adj" fmla="val 52106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38100" dir="5400000">
              <a:srgbClr val="f56565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18850" y="622706"/>
            <a:ext cx="705002" cy="276149"/>
          </a:xfrm>
          <a:prstGeom prst="roundRect">
            <a:avLst>
              <a:gd name="adj" fmla="val 68509"/>
            </a:avLst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373429"/>
            <a:ext cx="5876849" cy="180959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1754" y="1973275"/>
            <a:ext cx="547725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771754" y="1573682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FFF5F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-837" r="-837" t="0" b="0"/>
          <a:stretch/>
        </p:blipFill>
        <p:spPr>
          <a:xfrm>
            <a:off x="847649" y="1659636"/>
            <a:ext cx="152705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71754" y="2106778"/>
            <a:ext cx="5582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시각화: CSV/JSON 데이터 로드 및 Chart.js 활용 차트(Bar, Line, Radar) 구현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771754" y="2430475"/>
            <a:ext cx="5524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기획: 교육 현장 문제 해결을 위한 개인 프로젝트 주제 확정 및 기술 스택 선정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1754" y="2755087"/>
            <a:ext cx="55531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기능 구현: MVP(최소 기능 제품) 모델 설계를 바탕으로 주요 기능 1-2개 우선 개발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71500" y="3374136"/>
            <a:ext cx="5876849" cy="3105302"/>
          </a:xfrm>
          <a:prstGeom prst="roundRect">
            <a:avLst>
              <a:gd name="adj" fmla="val 1445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1754" y="3973068"/>
            <a:ext cx="547725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7" name="Shape 14"/>
          <p:cNvSpPr/>
          <p:nvPr/>
        </p:nvSpPr>
        <p:spPr>
          <a:xfrm>
            <a:off x="771754" y="3573475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E6FFF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-837" r="-837" t="0" b="0"/>
          <a:stretch/>
        </p:blipFill>
        <p:spPr>
          <a:xfrm>
            <a:off x="847649" y="3659429"/>
            <a:ext cx="152705" cy="13350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1754" y="4107485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v2: 구체화된 기능 명세 및 데이터 구조 설계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71754" y="443118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와이어플로우: 화면 흐름 및 사용자 인터랙션 다이어그램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771754" y="4754880"/>
            <a:ext cx="4191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베타 기능 시연 링크: 데이터가 연동되어 작동하는 핵심 기능 데모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771754" y="620878"/>
            <a:ext cx="7754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5-6차시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791310" y="381305"/>
            <a:ext cx="577626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프로젝트편 I: 데이터 시각화 &amp; 핵심 기능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1886407" y="884225"/>
            <a:ext cx="43077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프로젝트 기획, 데이터 파이프라인 설계, 핵심 기능 구현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11013948" y="661111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9-12주차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190549" y="1605686"/>
            <a:ext cx="12637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&amp; 활동</a:t>
            </a:r>
            <a:endParaRPr lang="en-US" sz="1200" dirty="0"/>
          </a:p>
        </p:txBody>
      </p:sp>
      <p:sp>
        <p:nvSpPr>
          <p:cNvPr id="27" name="Text 23"/>
          <p:cNvSpPr txBox="1"/>
          <p:nvPr/>
        </p:nvSpPr>
        <p:spPr>
          <a:xfrm>
            <a:off x="1190549" y="3606394"/>
            <a:ext cx="11018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 및 과제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6728155" y="1373429"/>
            <a:ext cx="4895698" cy="1990649"/>
          </a:xfrm>
          <a:prstGeom prst="roundRect">
            <a:avLst>
              <a:gd name="adj" fmla="val 3517"/>
            </a:avLst>
          </a:prstGeom>
          <a:solidFill>
            <a:srgbClr val="FFFAF0"/>
          </a:solidFill>
          <a:ln w="12700">
            <a:solidFill>
              <a:srgbClr val="FEEBC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728155" y="1373429"/>
            <a:ext cx="57607" cy="196596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0" name="Shape 26"/>
          <p:cNvSpPr/>
          <p:nvPr/>
        </p:nvSpPr>
        <p:spPr>
          <a:xfrm>
            <a:off x="6928409" y="1973275"/>
            <a:ext cx="4496105" cy="19202"/>
          </a:xfrm>
          <a:prstGeom prst="rect">
            <a:avLst/>
          </a:prstGeom>
          <a:solidFill>
            <a:srgbClr val="FEEBC8"/>
          </a:solidFill>
          <a:ln/>
        </p:spPr>
      </p:sp>
      <p:sp>
        <p:nvSpPr>
          <p:cNvPr id="31" name="Shape 27"/>
          <p:cNvSpPr/>
          <p:nvPr/>
        </p:nvSpPr>
        <p:spPr>
          <a:xfrm>
            <a:off x="6928409" y="1573682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FFFAF0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rcRect l="-1507" r="-1507" t="0" b="0"/>
          <a:stretch/>
        </p:blipFill>
        <p:spPr>
          <a:xfrm>
            <a:off x="6995160" y="1659636"/>
            <a:ext cx="171907" cy="133502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7347204" y="1605686"/>
            <a:ext cx="18251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활용 포인트</a:t>
            </a:r>
            <a:endParaRPr lang="en-US" sz="1200" dirty="0"/>
          </a:p>
        </p:txBody>
      </p:sp>
      <p:sp>
        <p:nvSpPr>
          <p:cNvPr id="34" name="Shape 29"/>
          <p:cNvSpPr/>
          <p:nvPr/>
        </p:nvSpPr>
        <p:spPr>
          <a:xfrm>
            <a:off x="6928409" y="2106778"/>
            <a:ext cx="1429207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7023506" y="2145182"/>
            <a:ext cx="13304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Cross-surface Agents</a:t>
            </a:r>
            <a:endParaRPr lang="en-US" sz="900" dirty="0"/>
          </a:p>
        </p:txBody>
      </p:sp>
      <p:sp>
        <p:nvSpPr>
          <p:cNvPr id="36" name="Text 31"/>
          <p:cNvSpPr txBox="1"/>
          <p:nvPr/>
        </p:nvSpPr>
        <p:spPr>
          <a:xfrm>
            <a:off x="6965899" y="2403958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에디터, 터미널, 브라우저 작업을 동기화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928409" y="2670962"/>
            <a:ext cx="1343254" cy="267005"/>
          </a:xfrm>
          <a:prstGeom prst="roundRect">
            <a:avLst>
              <a:gd name="adj" fmla="val 2446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8" name="Text 33"/>
          <p:cNvSpPr txBox="1"/>
          <p:nvPr/>
        </p:nvSpPr>
        <p:spPr>
          <a:xfrm>
            <a:off x="7023506" y="2709367"/>
            <a:ext cx="124449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Artifact Verification</a:t>
            </a:r>
            <a:endParaRPr lang="en-US" sz="900" dirty="0"/>
          </a:p>
        </p:txBody>
      </p:sp>
      <p:sp>
        <p:nvSpPr>
          <p:cNvPr id="39" name="Text 34"/>
          <p:cNvSpPr txBox="1"/>
          <p:nvPr/>
        </p:nvSpPr>
        <p:spPr>
          <a:xfrm>
            <a:off x="6965899" y="2968142"/>
            <a:ext cx="17291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생성된 차트 로직 실시간 검증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6728155" y="3501238"/>
            <a:ext cx="4895698" cy="1466698"/>
          </a:xfrm>
          <a:prstGeom prst="roundRect">
            <a:avLst>
              <a:gd name="adj" fmla="val 6477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6728155" y="3501238"/>
            <a:ext cx="57607" cy="1447495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42" name="Shape 37"/>
          <p:cNvSpPr/>
          <p:nvPr/>
        </p:nvSpPr>
        <p:spPr>
          <a:xfrm>
            <a:off x="6928409" y="4101084"/>
            <a:ext cx="4496105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3" name="Shape 38"/>
          <p:cNvSpPr/>
          <p:nvPr/>
        </p:nvSpPr>
        <p:spPr>
          <a:xfrm>
            <a:off x="6928409" y="3701491"/>
            <a:ext cx="304495" cy="304495"/>
          </a:xfrm>
          <a:prstGeom prst="roundRect">
            <a:avLst>
              <a:gd name="adj" fmla="val 93844"/>
            </a:avLst>
          </a:prstGeom>
          <a:solidFill>
            <a:srgbClr val="EDF2F7"/>
          </a:solidFill>
          <a:ln/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013448" y="3787445"/>
            <a:ext cx="133502" cy="133502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7347204" y="3733495"/>
            <a:ext cx="996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활용</a:t>
            </a:r>
            <a:endParaRPr lang="en-US" sz="1200" dirty="0"/>
          </a:p>
        </p:txBody>
      </p:sp>
      <p:sp>
        <p:nvSpPr>
          <p:cNvPr id="46" name="Text 40"/>
          <p:cNvSpPr txBox="1"/>
          <p:nvPr/>
        </p:nvSpPr>
        <p:spPr>
          <a:xfrm>
            <a:off x="6928409" y="4234586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대시보드: 프로젝트 대시보드 및 스프린트 계획</a:t>
            </a:r>
            <a:endParaRPr lang="en-US" sz="1200" dirty="0"/>
          </a:p>
        </p:txBody>
      </p:sp>
      <p:sp>
        <p:nvSpPr>
          <p:cNvPr id="47" name="Text 41"/>
          <p:cNvSpPr txBox="1"/>
          <p:nvPr/>
        </p:nvSpPr>
        <p:spPr>
          <a:xfrm>
            <a:off x="6928409" y="4539996"/>
            <a:ext cx="3067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문서화: 기능 명세(Spec) 및 리소스 라이브러리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728155" y="5143500"/>
            <a:ext cx="4895698" cy="1343254"/>
          </a:xfrm>
          <a:prstGeom prst="roundRect">
            <a:avLst>
              <a:gd name="adj" fmla="val 5793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20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6928409" y="5057546"/>
            <a:ext cx="1067105" cy="200254"/>
          </a:xfrm>
          <a:prstGeom prst="roundRect">
            <a:avLst>
              <a:gd name="adj" fmla="val 217438"/>
            </a:avLst>
          </a:prstGeom>
          <a:solidFill>
            <a:srgbClr val="ED8936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7023506" y="5076749"/>
            <a:ext cx="9564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 Prompt</a:t>
            </a:r>
            <a:endParaRPr lang="en-US" sz="800" dirty="0"/>
          </a:p>
        </p:txBody>
      </p:sp>
      <p:sp>
        <p:nvSpPr>
          <p:cNvPr id="51" name="Text 45"/>
          <p:cNvSpPr txBox="1"/>
          <p:nvPr/>
        </p:nvSpPr>
        <p:spPr>
          <a:xfrm>
            <a:off x="6909206" y="5342839"/>
            <a:ext cx="4622292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"Create a student progress dashboard that uploads a CSV file containing 'Student Name', 'Unit', and 'Score'. Parse the data and render a bar chart showing the average score per unit. Add a filter dropdown to select specific units and an export button to save the chart as a PNG image."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2857500"/>
            <a:ext cx="7619695" cy="7619695"/>
          </a:xfrm>
          <a:prstGeom prst="ellipse">
            <a:avLst/>
          </a:prstGeom>
          <a:solidFill>
            <a:srgbClr val="F6AD55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2095805"/>
            <a:ext cx="7619695" cy="7619695"/>
          </a:xfrm>
          <a:prstGeom prst="ellipse">
            <a:avLst/>
          </a:prstGeom>
          <a:solidFill>
            <a:srgbClr val="F687B3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534924"/>
            <a:ext cx="1037844" cy="448056"/>
          </a:xfrm>
          <a:prstGeom prst="roundRect">
            <a:avLst>
              <a:gd name="adj" fmla="val 52106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38100" dir="5400000">
              <a:srgbClr val="f56565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843870" y="622706"/>
            <a:ext cx="780898" cy="276149"/>
          </a:xfrm>
          <a:prstGeom prst="roundRect">
            <a:avLst>
              <a:gd name="adj" fmla="val 68509"/>
            </a:avLst>
          </a:prstGeom>
          <a:solidFill>
            <a:srgbClr val="EDF2F7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420978"/>
            <a:ext cx="5876849" cy="2361895"/>
          </a:xfrm>
          <a:prstGeom prst="roundRect">
            <a:avLst>
              <a:gd name="adj" fmla="val 2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9244" y="2116836"/>
            <a:ext cx="540044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809244" y="1659636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FF5F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3" b="-43"/>
          <a:stretch/>
        </p:blipFill>
        <p:spPr>
          <a:xfrm>
            <a:off x="914400" y="1754734"/>
            <a:ext cx="133502" cy="15270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809244" y="2287829"/>
            <a:ext cx="5020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UI/UX 고도화: 접근성(WCAG) 준수, 모바일 반응형 최적화, 다국어(i18n) 적용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09244" y="2630729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및 안정화: 환경변수 설정, 빌드 최적화, Vercel/Cloud Run 배포 실습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" y="2973629"/>
            <a:ext cx="3896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발표: 데모 시연, 동료 피드백, 교육 현장 적용 방안 발표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09244" y="3316529"/>
            <a:ext cx="49816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활용: 최종 발표 자료 준비, 프로젝트 회고록, 수업 적용 가이드 문서화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" y="3973982"/>
            <a:ext cx="5876849" cy="2505456"/>
          </a:xfrm>
          <a:prstGeom prst="roundRect">
            <a:avLst>
              <a:gd name="adj" fmla="val 2220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809244" y="4668926"/>
            <a:ext cx="5400446" cy="19202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18" name="Shape 15"/>
          <p:cNvSpPr/>
          <p:nvPr/>
        </p:nvSpPr>
        <p:spPr>
          <a:xfrm>
            <a:off x="809244" y="4211726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FFAF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05256" y="4306824"/>
            <a:ext cx="152705" cy="15270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9244" y="4840834"/>
            <a:ext cx="4305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저장소 &amp; 배포 링크: GitHub Repository + Live Demo URL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809244" y="5183734"/>
            <a:ext cx="38103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패키지: 수업지도안, 활동지, 평가 루브릭, 운영 가이드</a:t>
            </a:r>
            <a:endParaRPr lang="en-US" sz="1200" dirty="0"/>
          </a:p>
        </p:txBody>
      </p:sp>
      <p:sp>
        <p:nvSpPr>
          <p:cNvPr id="22" name="Text 18"/>
          <p:cNvSpPr txBox="1"/>
          <p:nvPr/>
        </p:nvSpPr>
        <p:spPr>
          <a:xfrm>
            <a:off x="809244" y="5526634"/>
            <a:ext cx="4534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프로젝트 포트폴리오: 기획부터 배포까지 전 과정 기록 및 회고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771754" y="620878"/>
            <a:ext cx="77541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7-8차시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1791310" y="381305"/>
            <a:ext cx="5681167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프로젝트편 II: UI/UX · 배포 · 최종 발표</a:t>
            </a:r>
            <a:endParaRPr lang="en-US" sz="2600" dirty="0"/>
          </a:p>
        </p:txBody>
      </p:sp>
      <p:sp>
        <p:nvSpPr>
          <p:cNvPr id="25" name="Text 21"/>
          <p:cNvSpPr txBox="1"/>
          <p:nvPr/>
        </p:nvSpPr>
        <p:spPr>
          <a:xfrm>
            <a:off x="1886407" y="884225"/>
            <a:ext cx="384048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접근성 개선, 다국어 적용, 프로덕션 배포 및 최종 시연</a:t>
            </a:r>
            <a:endParaRPr lang="en-US" sz="1300" dirty="0"/>
          </a:p>
        </p:txBody>
      </p:sp>
      <p:sp>
        <p:nvSpPr>
          <p:cNvPr id="26" name="Text 22"/>
          <p:cNvSpPr txBox="1"/>
          <p:nvPr/>
        </p:nvSpPr>
        <p:spPr>
          <a:xfrm>
            <a:off x="10938967" y="661111"/>
            <a:ext cx="68854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13-16주차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1266444" y="1705356"/>
            <a:ext cx="13167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목표 &amp; 활동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1266444" y="4257446"/>
            <a:ext cx="9454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728155" y="1420978"/>
            <a:ext cx="4895698" cy="3066898"/>
          </a:xfrm>
          <a:prstGeom prst="roundRect">
            <a:avLst>
              <a:gd name="adj" fmla="val 1481"/>
            </a:avLst>
          </a:prstGeom>
          <a:solidFill>
            <a:srgbClr val="FFF5F7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6728155" y="1420978"/>
            <a:ext cx="57607" cy="3040380"/>
          </a:xfrm>
          <a:prstGeom prst="rect">
            <a:avLst/>
          </a:prstGeom>
          <a:solidFill>
            <a:srgbClr val="F687B3"/>
          </a:solidFill>
          <a:ln/>
        </p:spPr>
      </p:sp>
      <p:sp>
        <p:nvSpPr>
          <p:cNvPr id="31" name="Shape 27"/>
          <p:cNvSpPr/>
          <p:nvPr/>
        </p:nvSpPr>
        <p:spPr>
          <a:xfrm>
            <a:off x="6965899" y="2116836"/>
            <a:ext cx="4419295" cy="19202"/>
          </a:xfrm>
          <a:prstGeom prst="rect">
            <a:avLst/>
          </a:prstGeom>
          <a:solidFill>
            <a:srgbClr val="FBB6CE"/>
          </a:solidFill>
          <a:ln/>
        </p:spPr>
      </p:sp>
      <p:sp>
        <p:nvSpPr>
          <p:cNvPr id="32" name="Shape 28"/>
          <p:cNvSpPr/>
          <p:nvPr/>
        </p:nvSpPr>
        <p:spPr>
          <a:xfrm>
            <a:off x="6965899" y="1659636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FF5F7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80" b="-180"/>
          <a:stretch/>
        </p:blipFill>
        <p:spPr>
          <a:xfrm>
            <a:off x="7042709" y="1754734"/>
            <a:ext cx="190195" cy="15270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7423099" y="1705356"/>
            <a:ext cx="19165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활용 포인트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6965899" y="2287829"/>
            <a:ext cx="1647749" cy="314554"/>
          </a:xfrm>
          <a:prstGeom prst="roundRect">
            <a:avLst>
              <a:gd name="adj" fmla="val 176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7080199" y="2345436"/>
            <a:ext cx="15169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3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Agent-First Experience</a:t>
            </a:r>
            <a:endParaRPr lang="en-US" sz="1000" dirty="0"/>
          </a:p>
        </p:txBody>
      </p:sp>
      <p:sp>
        <p:nvSpPr>
          <p:cNvPr id="37" name="Text 32"/>
          <p:cNvSpPr txBox="1"/>
          <p:nvPr/>
        </p:nvSpPr>
        <p:spPr>
          <a:xfrm>
            <a:off x="7004304" y="2672791"/>
            <a:ext cx="3501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멀티 에이전트 동시 운영으로 프론트/백엔드/테스트 병렬 처리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6965899" y="2977286"/>
            <a:ext cx="1895551" cy="314554"/>
          </a:xfrm>
          <a:prstGeom prst="roundRect">
            <a:avLst>
              <a:gd name="adj" fmla="val 176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Text 34"/>
          <p:cNvSpPr txBox="1"/>
          <p:nvPr/>
        </p:nvSpPr>
        <p:spPr>
          <a:xfrm>
            <a:off x="7080199" y="3034894"/>
            <a:ext cx="17647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3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 Feedback Integration</a:t>
            </a:r>
            <a:endParaRPr lang="en-US" sz="1000" dirty="0"/>
          </a:p>
        </p:txBody>
      </p:sp>
      <p:sp>
        <p:nvSpPr>
          <p:cNvPr id="40" name="Text 35"/>
          <p:cNvSpPr txBox="1"/>
          <p:nvPr/>
        </p:nvSpPr>
        <p:spPr>
          <a:xfrm>
            <a:off x="7004304" y="3362249"/>
            <a:ext cx="36822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전 피드백을 에이전트에 통합하여 빠른 반복 개선(Iteration)</a:t>
            </a:r>
            <a:endParaRPr lang="en-US" sz="1000" dirty="0"/>
          </a:p>
        </p:txBody>
      </p:sp>
      <p:sp>
        <p:nvSpPr>
          <p:cNvPr id="41" name="Shape 36"/>
          <p:cNvSpPr/>
          <p:nvPr/>
        </p:nvSpPr>
        <p:spPr>
          <a:xfrm>
            <a:off x="6965899" y="3667658"/>
            <a:ext cx="1514246" cy="314554"/>
          </a:xfrm>
          <a:prstGeom prst="roundRect">
            <a:avLst>
              <a:gd name="adj" fmla="val 1761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2" name="Text 37"/>
          <p:cNvSpPr txBox="1"/>
          <p:nvPr/>
        </p:nvSpPr>
        <p:spPr>
          <a:xfrm>
            <a:off x="7080199" y="3724351"/>
            <a:ext cx="13834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83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Verification Artifacts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7004304" y="4051706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전 자동 검증 결과 확인으로 신뢰성 확보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6728155" y="4978908"/>
            <a:ext cx="4895698" cy="1505102"/>
          </a:xfrm>
          <a:prstGeom prst="roundRect">
            <a:avLst>
              <a:gd name="adj" fmla="val 4614"/>
            </a:avLst>
          </a:prstGeom>
          <a:solidFill>
            <a:srgbClr val="2D3748"/>
          </a:solidFill>
          <a:ln w="12700">
            <a:solidFill>
              <a:srgbClr val="4A5568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20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928409" y="4874666"/>
            <a:ext cx="1171346" cy="209398"/>
          </a:xfrm>
          <a:prstGeom prst="roundRect">
            <a:avLst>
              <a:gd name="adj" fmla="val 238189"/>
            </a:avLst>
          </a:prstGeom>
          <a:solidFill>
            <a:srgbClr val="F5656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042709" y="489386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Example Prompt</a:t>
            </a:r>
            <a:endParaRPr lang="en-US" sz="900" dirty="0"/>
          </a:p>
        </p:txBody>
      </p:sp>
      <p:sp>
        <p:nvSpPr>
          <p:cNvPr id="47" name="Text 42"/>
          <p:cNvSpPr txBox="1"/>
          <p:nvPr/>
        </p:nvSpPr>
        <p:spPr>
          <a:xfrm>
            <a:off x="6928409" y="5207508"/>
            <a:ext cx="4561027" cy="1038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"Polish the UI for accessibility compliance (WCAG AA standards), implement internationalization (i18n) for Korean/English support, and prepare a production build configuration with environment variables and error logging for deployment to Vercel."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EBF8FF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3047695"/>
            <a:ext cx="6667805" cy="6667805"/>
          </a:xfrm>
          <a:prstGeom prst="ellipse">
            <a:avLst/>
          </a:prstGeom>
          <a:solidFill>
            <a:srgbClr val="F0FFF4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4954" y="751637"/>
            <a:ext cx="1971446" cy="323698"/>
          </a:xfrm>
          <a:prstGeom prst="roundRect">
            <a:avLst>
              <a:gd name="adj" fmla="val 166168"/>
            </a:avLst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16745" y="844906"/>
            <a:ext cx="133502" cy="1335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0354" y="3642055"/>
            <a:ext cx="57607" cy="57607"/>
          </a:xfrm>
          <a:prstGeom prst="ellipse">
            <a:avLst/>
          </a:prstGeom>
          <a:solidFill>
            <a:srgbClr val="4299E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359" b="-1359"/>
          <a:stretch/>
        </p:blipFill>
        <p:spPr>
          <a:xfrm>
            <a:off x="1000354" y="4289450"/>
            <a:ext cx="105156" cy="12344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59" b="-1359"/>
          <a:stretch/>
        </p:blipFill>
        <p:spPr>
          <a:xfrm>
            <a:off x="1000354" y="4551883"/>
            <a:ext cx="105156" cy="12344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59" b="-1359"/>
          <a:stretch/>
        </p:blipFill>
        <p:spPr>
          <a:xfrm>
            <a:off x="1000354" y="4815230"/>
            <a:ext cx="105156" cy="1234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94606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4632350" y="3642055"/>
            <a:ext cx="57607" cy="57607"/>
          </a:xfrm>
          <a:prstGeom prst="ellipse">
            <a:avLst/>
          </a:prstGeom>
          <a:solidFill>
            <a:srgbClr val="9F7AEA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4632350" y="4289450"/>
            <a:ext cx="105156" cy="12344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4632350" y="4551883"/>
            <a:ext cx="105156" cy="12344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359" b="-1359"/>
          <a:stretch/>
        </p:blipFill>
        <p:spPr>
          <a:xfrm>
            <a:off x="4632350" y="4815230"/>
            <a:ext cx="105156" cy="1234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026603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9" name="Shape 10"/>
          <p:cNvSpPr/>
          <p:nvPr/>
        </p:nvSpPr>
        <p:spPr>
          <a:xfrm>
            <a:off x="8264347" y="3642055"/>
            <a:ext cx="57607" cy="57607"/>
          </a:xfrm>
          <a:prstGeom prst="ellipse">
            <a:avLst/>
          </a:prstGeom>
          <a:solidFill>
            <a:srgbClr val="ED8936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359" b="-1359"/>
          <a:stretch/>
        </p:blipFill>
        <p:spPr>
          <a:xfrm>
            <a:off x="8264347" y="4289450"/>
            <a:ext cx="105156" cy="123444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59" b="-1359"/>
          <a:stretch/>
        </p:blipFill>
        <p:spPr>
          <a:xfrm>
            <a:off x="8264347" y="4551883"/>
            <a:ext cx="105156" cy="123444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359" b="-1359"/>
          <a:stretch/>
        </p:blipFill>
        <p:spPr>
          <a:xfrm>
            <a:off x="8264347" y="4815230"/>
            <a:ext cx="105156" cy="123444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61695" y="485546"/>
            <a:ext cx="4019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프로그램 갤러리 ①</a:t>
            </a:r>
            <a:endParaRPr lang="en-US" sz="3000" dirty="0"/>
          </a:p>
        </p:txBody>
      </p:sp>
      <p:sp>
        <p:nvSpPr>
          <p:cNvPr id="24" name="Text 12"/>
          <p:cNvSpPr txBox="1"/>
          <p:nvPr/>
        </p:nvSpPr>
        <p:spPr>
          <a:xfrm>
            <a:off x="761695" y="1095451"/>
            <a:ext cx="42126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Antigravity로 제작 가능한 교육용 웹앱 예시 (기초/활용편)</a:t>
            </a:r>
            <a:endParaRPr lang="en-US" sz="1300" dirty="0"/>
          </a:p>
        </p:txBody>
      </p:sp>
      <p:sp>
        <p:nvSpPr>
          <p:cNvPr id="25" name="Text 13"/>
          <p:cNvSpPr txBox="1"/>
          <p:nvPr/>
        </p:nvSpPr>
        <p:spPr>
          <a:xfrm>
            <a:off x="9827057" y="808330"/>
            <a:ext cx="15608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 Gallery Part 1</a:t>
            </a:r>
            <a:endParaRPr lang="en-US" sz="1000" dirty="0"/>
          </a:p>
        </p:txBody>
      </p:sp>
      <p:sp>
        <p:nvSpPr>
          <p:cNvPr id="26" name="Text 14"/>
          <p:cNvSpPr txBox="1"/>
          <p:nvPr/>
        </p:nvSpPr>
        <p:spPr>
          <a:xfrm>
            <a:off x="1114654" y="3585362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QUIZ APPLICATION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1000354" y="3833165"/>
            <a:ext cx="146578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영단어 퀴즈 앱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1181405" y="4248302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객관식 문제 및 타이머 기능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1181405" y="4511650"/>
            <a:ext cx="15224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채점 및 점수 요약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1181405" y="4774082"/>
            <a:ext cx="21890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오답 노트(Review Sheet) 자동 생성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4746650" y="3585362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GAMIFICATION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4632350" y="3833165"/>
            <a:ext cx="16559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구구단 학습 게임</a:t>
            </a:r>
            <a:endParaRPr lang="en-US" sz="1600" dirty="0"/>
          </a:p>
        </p:txBody>
      </p:sp>
      <p:sp>
        <p:nvSpPr>
          <p:cNvPr id="33" name="Text 21"/>
          <p:cNvSpPr txBox="1"/>
          <p:nvPr/>
        </p:nvSpPr>
        <p:spPr>
          <a:xfrm>
            <a:off x="4813402" y="4248302"/>
            <a:ext cx="17702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난이도 조절 (초급/중급/고급)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4813402" y="4511650"/>
            <a:ext cx="1817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연속 정답 콤보 및 점수 시스템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4813402" y="4774082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힌트 버튼 및 시각적 피드백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8378647" y="3585362"/>
            <a:ext cx="857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STUDY TOOL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8264347" y="3833165"/>
            <a:ext cx="18562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플래시카드 암기 앱</a:t>
            </a:r>
            <a:endParaRPr lang="en-US" sz="1600" dirty="0"/>
          </a:p>
        </p:txBody>
      </p:sp>
      <p:sp>
        <p:nvSpPr>
          <p:cNvPr id="38" name="Text 26"/>
          <p:cNvSpPr txBox="1"/>
          <p:nvPr/>
        </p:nvSpPr>
        <p:spPr>
          <a:xfrm>
            <a:off x="8445398" y="4248302"/>
            <a:ext cx="17318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카드 뒤집기 애니메이션 효과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8445398" y="4511650"/>
            <a:ext cx="17035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즐겨찾기(별표) 및 카드 섞기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45398" y="4774082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암기 여부에 따른 카드 분류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771754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Shape 30"/>
          <p:cNvSpPr/>
          <p:nvPr/>
        </p:nvSpPr>
        <p:spPr>
          <a:xfrm>
            <a:off x="771754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3" name="Shape 31"/>
          <p:cNvSpPr/>
          <p:nvPr/>
        </p:nvSpPr>
        <p:spPr>
          <a:xfrm>
            <a:off x="1110082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1119226" y="1822399"/>
            <a:ext cx="2695651" cy="5760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5" name="Shape 33"/>
          <p:cNvSpPr/>
          <p:nvPr/>
        </p:nvSpPr>
        <p:spPr>
          <a:xfrm>
            <a:off x="1176833" y="1822399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46" name="Shape 34"/>
          <p:cNvSpPr/>
          <p:nvPr/>
        </p:nvSpPr>
        <p:spPr>
          <a:xfrm>
            <a:off x="1271930" y="1822399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47" name="Shape 35"/>
          <p:cNvSpPr/>
          <p:nvPr/>
        </p:nvSpPr>
        <p:spPr>
          <a:xfrm>
            <a:off x="1367028" y="1822399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48" name="Shape 36"/>
          <p:cNvSpPr/>
          <p:nvPr/>
        </p:nvSpPr>
        <p:spPr>
          <a:xfrm>
            <a:off x="1119226" y="1879092"/>
            <a:ext cx="2695651" cy="14859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9" name="Shape 37"/>
          <p:cNvSpPr/>
          <p:nvPr/>
        </p:nvSpPr>
        <p:spPr>
          <a:xfrm>
            <a:off x="1527048" y="1975104"/>
            <a:ext cx="1876349" cy="152705"/>
          </a:xfrm>
          <a:prstGeom prst="roundRect">
            <a:avLst>
              <a:gd name="adj" fmla="val 149700"/>
            </a:avLst>
          </a:prstGeom>
          <a:solidFill>
            <a:srgbClr val="BFDBFE"/>
          </a:solidFill>
          <a:ln/>
        </p:spPr>
      </p:sp>
      <p:sp>
        <p:nvSpPr>
          <p:cNvPr id="50" name="Shape 38"/>
          <p:cNvSpPr/>
          <p:nvPr/>
        </p:nvSpPr>
        <p:spPr>
          <a:xfrm>
            <a:off x="1464869" y="2279599"/>
            <a:ext cx="2000707" cy="75895"/>
          </a:xfrm>
          <a:prstGeom prst="roundRect">
            <a:avLst>
              <a:gd name="adj" fmla="val 602411"/>
            </a:avLst>
          </a:prstGeom>
          <a:solidFill>
            <a:srgbClr val="E2E8F0"/>
          </a:solidFill>
          <a:ln/>
        </p:spPr>
      </p:sp>
      <p:sp>
        <p:nvSpPr>
          <p:cNvPr id="51" name="Shape 39"/>
          <p:cNvSpPr/>
          <p:nvPr/>
        </p:nvSpPr>
        <p:spPr>
          <a:xfrm>
            <a:off x="1464869" y="2432304"/>
            <a:ext cx="2000707" cy="75895"/>
          </a:xfrm>
          <a:prstGeom prst="roundRect">
            <a:avLst>
              <a:gd name="adj" fmla="val 602411"/>
            </a:avLst>
          </a:prstGeom>
          <a:solidFill>
            <a:srgbClr val="63B3ED"/>
          </a:solidFill>
          <a:ln/>
        </p:spPr>
      </p:sp>
      <p:sp>
        <p:nvSpPr>
          <p:cNvPr id="52" name="Shape 40"/>
          <p:cNvSpPr/>
          <p:nvPr/>
        </p:nvSpPr>
        <p:spPr>
          <a:xfrm>
            <a:off x="1464869" y="2584094"/>
            <a:ext cx="2000707" cy="75895"/>
          </a:xfrm>
          <a:prstGeom prst="roundRect">
            <a:avLst>
              <a:gd name="adj" fmla="val 602411"/>
            </a:avLst>
          </a:prstGeom>
          <a:solidFill>
            <a:srgbClr val="E2E8F0"/>
          </a:solidFill>
          <a:ln/>
        </p:spPr>
      </p:sp>
      <p:sp>
        <p:nvSpPr>
          <p:cNvPr id="53" name="Shape 41"/>
          <p:cNvSpPr/>
          <p:nvPr/>
        </p:nvSpPr>
        <p:spPr>
          <a:xfrm>
            <a:off x="1464869" y="2736799"/>
            <a:ext cx="2000707" cy="75895"/>
          </a:xfrm>
          <a:prstGeom prst="roundRect">
            <a:avLst>
              <a:gd name="adj" fmla="val 602411"/>
            </a:avLst>
          </a:prstGeom>
          <a:solidFill>
            <a:srgbClr val="E2E8F0"/>
          </a:solidFill>
          <a:ln/>
        </p:spPr>
      </p:sp>
      <p:sp>
        <p:nvSpPr>
          <p:cNvPr id="54" name="Shape 42"/>
          <p:cNvSpPr/>
          <p:nvPr/>
        </p:nvSpPr>
        <p:spPr>
          <a:xfrm>
            <a:off x="1291133" y="296539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A7F3D0"/>
          </a:solidFill>
          <a:ln/>
        </p:spPr>
      </p:sp>
      <p:sp>
        <p:nvSpPr>
          <p:cNvPr id="55" name="Text 43"/>
          <p:cNvSpPr txBox="1"/>
          <p:nvPr/>
        </p:nvSpPr>
        <p:spPr>
          <a:xfrm>
            <a:off x="1347826" y="3041294"/>
            <a:ext cx="286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10s</a:t>
            </a:r>
            <a:endParaRPr lang="en-US" sz="900" dirty="0"/>
          </a:p>
        </p:txBody>
      </p:sp>
      <p:sp>
        <p:nvSpPr>
          <p:cNvPr id="56" name="Shape 44"/>
          <p:cNvSpPr/>
          <p:nvPr/>
        </p:nvSpPr>
        <p:spPr>
          <a:xfrm>
            <a:off x="3026664" y="2965399"/>
            <a:ext cx="609905" cy="304495"/>
          </a:xfrm>
          <a:prstGeom prst="roundRect">
            <a:avLst>
              <a:gd name="adj" fmla="val 37538"/>
            </a:avLst>
          </a:prstGeom>
          <a:solidFill>
            <a:srgbClr val="3B82F6"/>
          </a:solidFill>
          <a:ln/>
        </p:spPr>
      </p:sp>
      <p:sp>
        <p:nvSpPr>
          <p:cNvPr id="57" name="Text 45"/>
          <p:cNvSpPr txBox="1"/>
          <p:nvPr/>
        </p:nvSpPr>
        <p:spPr>
          <a:xfrm>
            <a:off x="3210458" y="3041294"/>
            <a:ext cx="333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900" dirty="0"/>
          </a:p>
        </p:txBody>
      </p:sp>
      <p:sp>
        <p:nvSpPr>
          <p:cNvPr id="58" name="Shape 46"/>
          <p:cNvSpPr/>
          <p:nvPr/>
        </p:nvSpPr>
        <p:spPr>
          <a:xfrm>
            <a:off x="1000354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59" name="Shape 47"/>
          <p:cNvSpPr/>
          <p:nvPr/>
        </p:nvSpPr>
        <p:spPr>
          <a:xfrm>
            <a:off x="1114654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60" name="Shape 48"/>
          <p:cNvSpPr/>
          <p:nvPr/>
        </p:nvSpPr>
        <p:spPr>
          <a:xfrm>
            <a:off x="1190549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61" name="Text 49"/>
          <p:cNvSpPr txBox="1"/>
          <p:nvPr/>
        </p:nvSpPr>
        <p:spPr>
          <a:xfrm>
            <a:off x="1343254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62" name="Text 50"/>
          <p:cNvSpPr txBox="1"/>
          <p:nvPr/>
        </p:nvSpPr>
        <p:spPr>
          <a:xfrm>
            <a:off x="1152144" y="5466283"/>
            <a:ext cx="2431390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"Generate a vocab quiz from a provided JSON list with per-question timer(10s) and score summary screen at the end."</a:t>
            </a:r>
            <a:endParaRPr lang="en-US" sz="1000" dirty="0"/>
          </a:p>
        </p:txBody>
      </p:sp>
      <p:sp>
        <p:nvSpPr>
          <p:cNvPr id="63" name="Shape 51"/>
          <p:cNvSpPr/>
          <p:nvPr/>
        </p:nvSpPr>
        <p:spPr>
          <a:xfrm>
            <a:off x="4403750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4" name="Shape 52"/>
          <p:cNvSpPr/>
          <p:nvPr/>
        </p:nvSpPr>
        <p:spPr>
          <a:xfrm>
            <a:off x="4403750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5" name="Shape 53"/>
          <p:cNvSpPr/>
          <p:nvPr/>
        </p:nvSpPr>
        <p:spPr>
          <a:xfrm>
            <a:off x="4742078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6" name="Shape 54"/>
          <p:cNvSpPr/>
          <p:nvPr/>
        </p:nvSpPr>
        <p:spPr>
          <a:xfrm>
            <a:off x="4751222" y="1822399"/>
            <a:ext cx="2695651" cy="5760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7" name="Shape 55"/>
          <p:cNvSpPr/>
          <p:nvPr/>
        </p:nvSpPr>
        <p:spPr>
          <a:xfrm>
            <a:off x="4808830" y="1822399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68" name="Shape 56"/>
          <p:cNvSpPr/>
          <p:nvPr/>
        </p:nvSpPr>
        <p:spPr>
          <a:xfrm>
            <a:off x="4903927" y="1822399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69" name="Shape 57"/>
          <p:cNvSpPr/>
          <p:nvPr/>
        </p:nvSpPr>
        <p:spPr>
          <a:xfrm>
            <a:off x="4999025" y="1822399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70" name="Shape 58"/>
          <p:cNvSpPr/>
          <p:nvPr/>
        </p:nvSpPr>
        <p:spPr>
          <a:xfrm>
            <a:off x="4751222" y="1879092"/>
            <a:ext cx="2695651" cy="1447495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71" name="Text 59"/>
          <p:cNvSpPr txBox="1"/>
          <p:nvPr/>
        </p:nvSpPr>
        <p:spPr>
          <a:xfrm>
            <a:off x="5455310" y="1841602"/>
            <a:ext cx="15005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 × 8 = ?</a:t>
            </a:r>
            <a:endParaRPr lang="en-US" sz="2200" dirty="0"/>
          </a:p>
        </p:txBody>
      </p:sp>
      <p:sp>
        <p:nvSpPr>
          <p:cNvPr id="72" name="Shape 60"/>
          <p:cNvSpPr/>
          <p:nvPr/>
        </p:nvSpPr>
        <p:spPr>
          <a:xfrm>
            <a:off x="5600700" y="2298802"/>
            <a:ext cx="457200" cy="381305"/>
          </a:xfrm>
          <a:prstGeom prst="roundRect">
            <a:avLst>
              <a:gd name="adj" fmla="val 2398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5738774" y="2374697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</a:t>
            </a:r>
            <a:endParaRPr lang="en-US" sz="1200" dirty="0"/>
          </a:p>
        </p:txBody>
      </p:sp>
      <p:sp>
        <p:nvSpPr>
          <p:cNvPr id="74" name="Shape 62"/>
          <p:cNvSpPr/>
          <p:nvPr/>
        </p:nvSpPr>
        <p:spPr>
          <a:xfrm>
            <a:off x="6133795" y="2298802"/>
            <a:ext cx="457200" cy="381305"/>
          </a:xfrm>
          <a:prstGeom prst="roundRect">
            <a:avLst>
              <a:gd name="adj" fmla="val 23981"/>
            </a:avLst>
          </a:prstGeom>
          <a:solidFill>
            <a:srgbClr val="8B5CF6"/>
          </a:solidFill>
          <a:ln/>
        </p:spPr>
      </p:sp>
      <p:sp>
        <p:nvSpPr>
          <p:cNvPr id="75" name="Text 63"/>
          <p:cNvSpPr txBox="1"/>
          <p:nvPr/>
        </p:nvSpPr>
        <p:spPr>
          <a:xfrm>
            <a:off x="6272784" y="2374697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1200" dirty="0"/>
          </a:p>
        </p:txBody>
      </p:sp>
      <p:sp>
        <p:nvSpPr>
          <p:cNvPr id="76" name="Shape 64"/>
          <p:cNvSpPr/>
          <p:nvPr/>
        </p:nvSpPr>
        <p:spPr>
          <a:xfrm>
            <a:off x="5600700" y="2756002"/>
            <a:ext cx="457200" cy="381305"/>
          </a:xfrm>
          <a:prstGeom prst="roundRect">
            <a:avLst>
              <a:gd name="adj" fmla="val 2398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7" name="Text 65"/>
          <p:cNvSpPr txBox="1"/>
          <p:nvPr/>
        </p:nvSpPr>
        <p:spPr>
          <a:xfrm>
            <a:off x="5738774" y="2831897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48</a:t>
            </a:r>
            <a:endParaRPr lang="en-US" sz="1200" dirty="0"/>
          </a:p>
        </p:txBody>
      </p:sp>
      <p:sp>
        <p:nvSpPr>
          <p:cNvPr id="78" name="Shape 66"/>
          <p:cNvSpPr/>
          <p:nvPr/>
        </p:nvSpPr>
        <p:spPr>
          <a:xfrm>
            <a:off x="6133795" y="2756002"/>
            <a:ext cx="457200" cy="381305"/>
          </a:xfrm>
          <a:prstGeom prst="roundRect">
            <a:avLst>
              <a:gd name="adj" fmla="val 23981"/>
            </a:avLst>
          </a:prstGeom>
          <a:solidFill>
            <a:srgbClr val="FFFFFF"/>
          </a:solidFill>
          <a:ln w="12700">
            <a:solidFill>
              <a:srgbClr val="DDD6FE"/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6272784" y="2831897"/>
            <a:ext cx="295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62</a:t>
            </a:r>
            <a:endParaRPr lang="en-US" sz="1200" dirty="0"/>
          </a:p>
        </p:txBody>
      </p:sp>
      <p:sp>
        <p:nvSpPr>
          <p:cNvPr id="80" name="Shape 68"/>
          <p:cNvSpPr/>
          <p:nvPr/>
        </p:nvSpPr>
        <p:spPr>
          <a:xfrm>
            <a:off x="5087722" y="3250692"/>
            <a:ext cx="2018995" cy="75895"/>
          </a:xfrm>
          <a:prstGeom prst="roundRect">
            <a:avLst>
              <a:gd name="adj" fmla="val 1204822"/>
            </a:avLst>
          </a:prstGeom>
          <a:solidFill>
            <a:srgbClr val="E5E7EB"/>
          </a:solidFill>
          <a:ln/>
        </p:spPr>
      </p:sp>
      <p:sp>
        <p:nvSpPr>
          <p:cNvPr id="81" name="Shape 69"/>
          <p:cNvSpPr/>
          <p:nvPr/>
        </p:nvSpPr>
        <p:spPr>
          <a:xfrm>
            <a:off x="5087722" y="3250692"/>
            <a:ext cx="1352398" cy="75895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82" name="Shape 70"/>
          <p:cNvSpPr/>
          <p:nvPr/>
        </p:nvSpPr>
        <p:spPr>
          <a:xfrm>
            <a:off x="4632350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83" name="Shape 71"/>
          <p:cNvSpPr/>
          <p:nvPr/>
        </p:nvSpPr>
        <p:spPr>
          <a:xfrm>
            <a:off x="4746650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84" name="Shape 72"/>
          <p:cNvSpPr/>
          <p:nvPr/>
        </p:nvSpPr>
        <p:spPr>
          <a:xfrm>
            <a:off x="4822546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85" name="Text 73"/>
          <p:cNvSpPr txBox="1"/>
          <p:nvPr/>
        </p:nvSpPr>
        <p:spPr>
          <a:xfrm>
            <a:off x="4975250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86" name="Text 74"/>
          <p:cNvSpPr txBox="1"/>
          <p:nvPr/>
        </p:nvSpPr>
        <p:spPr>
          <a:xfrm>
            <a:off x="4785055" y="5466283"/>
            <a:ext cx="250728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multiplication game with levels (easy/normal/hard), live score tracking, combo bonuses, and a hint button."</a:t>
            </a:r>
            <a:endParaRPr lang="en-US" sz="1000" dirty="0"/>
          </a:p>
        </p:txBody>
      </p:sp>
      <p:sp>
        <p:nvSpPr>
          <p:cNvPr id="87" name="Shape 75"/>
          <p:cNvSpPr/>
          <p:nvPr/>
        </p:nvSpPr>
        <p:spPr>
          <a:xfrm>
            <a:off x="8035747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8" name="Shape 76"/>
          <p:cNvSpPr/>
          <p:nvPr/>
        </p:nvSpPr>
        <p:spPr>
          <a:xfrm>
            <a:off x="8035747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9" name="Shape 77"/>
          <p:cNvSpPr/>
          <p:nvPr/>
        </p:nvSpPr>
        <p:spPr>
          <a:xfrm>
            <a:off x="8374075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90" name="Shape 78"/>
          <p:cNvSpPr/>
          <p:nvPr/>
        </p:nvSpPr>
        <p:spPr>
          <a:xfrm>
            <a:off x="8384134" y="1822399"/>
            <a:ext cx="2695651" cy="114300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91" name="Shape 79"/>
          <p:cNvSpPr/>
          <p:nvPr/>
        </p:nvSpPr>
        <p:spPr>
          <a:xfrm>
            <a:off x="8440826" y="1850746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92" name="Shape 80"/>
          <p:cNvSpPr/>
          <p:nvPr/>
        </p:nvSpPr>
        <p:spPr>
          <a:xfrm>
            <a:off x="8535924" y="1850746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93" name="Shape 81"/>
          <p:cNvSpPr/>
          <p:nvPr/>
        </p:nvSpPr>
        <p:spPr>
          <a:xfrm>
            <a:off x="8631022" y="1850746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94" name="Shape 82"/>
          <p:cNvSpPr/>
          <p:nvPr/>
        </p:nvSpPr>
        <p:spPr>
          <a:xfrm>
            <a:off x="8384134" y="1936699"/>
            <a:ext cx="2695651" cy="1238098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95" name="Shape 83"/>
          <p:cNvSpPr/>
          <p:nvPr/>
        </p:nvSpPr>
        <p:spPr>
          <a:xfrm>
            <a:off x="8787384" y="2182673"/>
            <a:ext cx="1886407" cy="743407"/>
          </a:xfrm>
          <a:prstGeom prst="roundRect">
            <a:avLst>
              <a:gd name="adj" fmla="val 9462"/>
            </a:avLst>
          </a:prstGeom>
          <a:solidFill>
            <a:srgbClr val="FEFCBF"/>
          </a:solidFill>
          <a:ln w="12700">
            <a:solidFill>
              <a:srgbClr val="F6E05E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5000"/>
              </a:srgbClr>
            </a:outerShdw>
          </a:effectLst>
        </p:spPr>
      </p:sp>
      <p:sp>
        <p:nvSpPr>
          <p:cNvPr id="96" name="Text 84"/>
          <p:cNvSpPr txBox="1"/>
          <p:nvPr/>
        </p:nvSpPr>
        <p:spPr>
          <a:xfrm>
            <a:off x="9557309" y="2307946"/>
            <a:ext cx="438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TERM</a:t>
            </a:r>
            <a:endParaRPr lang="en-US" sz="900" dirty="0"/>
          </a:p>
        </p:txBody>
      </p:sp>
      <p:sp>
        <p:nvSpPr>
          <p:cNvPr id="97" name="Text 85"/>
          <p:cNvSpPr txBox="1"/>
          <p:nvPr/>
        </p:nvSpPr>
        <p:spPr>
          <a:xfrm>
            <a:off x="9000439" y="2478938"/>
            <a:ext cx="1600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Photosynthesis</a:t>
            </a:r>
            <a:endParaRPr lang="en-US" sz="1500" dirty="0"/>
          </a:p>
        </p:txBody>
      </p:sp>
      <p:sp>
        <p:nvSpPr>
          <p:cNvPr id="98" name="Shape 86"/>
          <p:cNvSpPr/>
          <p:nvPr/>
        </p:nvSpPr>
        <p:spPr>
          <a:xfrm>
            <a:off x="9346997" y="27102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FEE2E2"/>
          </a:solidFill>
          <a:ln/>
        </p:spPr>
      </p:sp>
      <p:pic>
        <p:nvPicPr>
          <p:cNvPr id="99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9456725" y="2805379"/>
            <a:ext cx="85954" cy="114300"/>
          </a:xfrm>
          <a:prstGeom prst="rect">
            <a:avLst/>
          </a:prstGeom>
        </p:spPr>
      </p:pic>
      <p:sp>
        <p:nvSpPr>
          <p:cNvPr id="100" name="Shape 87"/>
          <p:cNvSpPr/>
          <p:nvPr/>
        </p:nvSpPr>
        <p:spPr>
          <a:xfrm>
            <a:off x="9804197" y="2710282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1FAE5"/>
          </a:solidFill>
          <a:ln/>
        </p:spPr>
      </p:sp>
      <p:pic>
        <p:nvPicPr>
          <p:cNvPr id="101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9903866" y="2805379"/>
            <a:ext cx="105156" cy="114300"/>
          </a:xfrm>
          <a:prstGeom prst="rect">
            <a:avLst/>
          </a:prstGeom>
        </p:spPr>
      </p:pic>
      <p:sp>
        <p:nvSpPr>
          <p:cNvPr id="102" name="Shape 88"/>
          <p:cNvSpPr/>
          <p:nvPr/>
        </p:nvSpPr>
        <p:spPr>
          <a:xfrm>
            <a:off x="8264347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103" name="Shape 89"/>
          <p:cNvSpPr/>
          <p:nvPr/>
        </p:nvSpPr>
        <p:spPr>
          <a:xfrm>
            <a:off x="8378647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104" name="Shape 90"/>
          <p:cNvSpPr/>
          <p:nvPr/>
        </p:nvSpPr>
        <p:spPr>
          <a:xfrm>
            <a:off x="8454542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105" name="Text 91"/>
          <p:cNvSpPr txBox="1"/>
          <p:nvPr/>
        </p:nvSpPr>
        <p:spPr>
          <a:xfrm>
            <a:off x="8607247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106" name="Text 92"/>
          <p:cNvSpPr txBox="1"/>
          <p:nvPr/>
        </p:nvSpPr>
        <p:spPr>
          <a:xfrm>
            <a:off x="8417052" y="5466283"/>
            <a:ext cx="259323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flashcard app with flip animation, shuffle, favorite tags, and a spaced-repetition-friendly review mode."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FFF5F5">
              <a:alpha val="8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3047695"/>
            <a:ext cx="6667805" cy="6667805"/>
          </a:xfrm>
          <a:prstGeom prst="ellipse">
            <a:avLst/>
          </a:prstGeom>
          <a:solidFill>
            <a:srgbClr val="EBF4FF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464954" y="751637"/>
            <a:ext cx="1971446" cy="323698"/>
          </a:xfrm>
          <a:prstGeom prst="roundRect">
            <a:avLst>
              <a:gd name="adj" fmla="val 166168"/>
            </a:avLst>
          </a:prstGeom>
          <a:solidFill>
            <a:srgbClr val="E2E8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16745" y="844906"/>
            <a:ext cx="133502" cy="13350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1695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000354" y="3642055"/>
            <a:ext cx="57607" cy="57607"/>
          </a:xfrm>
          <a:prstGeom prst="ellipse">
            <a:avLst/>
          </a:prstGeom>
          <a:solidFill>
            <a:srgbClr val="F5656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1359" b="-1359"/>
          <a:stretch/>
        </p:blipFill>
        <p:spPr>
          <a:xfrm>
            <a:off x="1000354" y="4289450"/>
            <a:ext cx="105156" cy="123444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359" b="-1359"/>
          <a:stretch/>
        </p:blipFill>
        <p:spPr>
          <a:xfrm>
            <a:off x="1000354" y="4551883"/>
            <a:ext cx="105156" cy="123444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359" b="-1359"/>
          <a:stretch/>
        </p:blipFill>
        <p:spPr>
          <a:xfrm>
            <a:off x="1000354" y="4815230"/>
            <a:ext cx="105156" cy="12344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394606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4" name="Shape 8"/>
          <p:cNvSpPr/>
          <p:nvPr/>
        </p:nvSpPr>
        <p:spPr>
          <a:xfrm>
            <a:off x="4632350" y="3642055"/>
            <a:ext cx="57607" cy="57607"/>
          </a:xfrm>
          <a:prstGeom prst="ellipse">
            <a:avLst/>
          </a:prstGeom>
          <a:solidFill>
            <a:srgbClr val="4299E1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1359" b="-1359"/>
          <a:stretch/>
        </p:blipFill>
        <p:spPr>
          <a:xfrm>
            <a:off x="4632350" y="4289450"/>
            <a:ext cx="105156" cy="123444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359" b="-1359"/>
          <a:stretch/>
        </p:blipFill>
        <p:spPr>
          <a:xfrm>
            <a:off x="4632350" y="4551883"/>
            <a:ext cx="105156" cy="123444"/>
          </a:xfrm>
          <a:prstGeom prst="rect">
            <a:avLst/>
          </a:prstGeom>
        </p:spPr>
      </p:pic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359" b="-1359"/>
          <a:stretch/>
        </p:blipFill>
        <p:spPr>
          <a:xfrm>
            <a:off x="4632350" y="4815230"/>
            <a:ext cx="105156" cy="123444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8026603" y="1632204"/>
            <a:ext cx="3409798" cy="4753051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190500" dist="101600" dir="5400000">
              <a:srgbClr val="000000">
                <a:alpha val="4000"/>
              </a:srgbClr>
            </a:outerShdw>
          </a:effectLst>
        </p:spPr>
      </p:sp>
      <p:sp>
        <p:nvSpPr>
          <p:cNvPr id="19" name="Shape 10"/>
          <p:cNvSpPr/>
          <p:nvPr/>
        </p:nvSpPr>
        <p:spPr>
          <a:xfrm>
            <a:off x="8264347" y="3642055"/>
            <a:ext cx="57607" cy="57607"/>
          </a:xfrm>
          <a:prstGeom prst="ellipse">
            <a:avLst/>
          </a:prstGeom>
          <a:solidFill>
            <a:srgbClr val="48BB78"/>
          </a:solidFill>
          <a:ln/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359" b="-1359"/>
          <a:stretch/>
        </p:blipFill>
        <p:spPr>
          <a:xfrm>
            <a:off x="8264347" y="4289450"/>
            <a:ext cx="105156" cy="123444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359" b="-1359"/>
          <a:stretch/>
        </p:blipFill>
        <p:spPr>
          <a:xfrm>
            <a:off x="8264347" y="4551883"/>
            <a:ext cx="105156" cy="123444"/>
          </a:xfrm>
          <a:prstGeom prst="rect">
            <a:avLst/>
          </a:prstGeom>
        </p:spPr>
      </p:pic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359" b="-1359"/>
          <a:stretch/>
        </p:blipFill>
        <p:spPr>
          <a:xfrm>
            <a:off x="8264347" y="4815230"/>
            <a:ext cx="105156" cy="123444"/>
          </a:xfrm>
          <a:prstGeom prst="rect">
            <a:avLst/>
          </a:prstGeom>
        </p:spPr>
      </p:pic>
      <p:sp>
        <p:nvSpPr>
          <p:cNvPr id="23" name="Text 11"/>
          <p:cNvSpPr txBox="1"/>
          <p:nvPr/>
        </p:nvSpPr>
        <p:spPr>
          <a:xfrm>
            <a:off x="761695" y="485546"/>
            <a:ext cx="4019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프로그램 갤러리 ②</a:t>
            </a:r>
            <a:endParaRPr lang="en-US" sz="3000" dirty="0"/>
          </a:p>
        </p:txBody>
      </p:sp>
      <p:sp>
        <p:nvSpPr>
          <p:cNvPr id="24" name="Text 12"/>
          <p:cNvSpPr txBox="1"/>
          <p:nvPr/>
        </p:nvSpPr>
        <p:spPr>
          <a:xfrm>
            <a:off x="761695" y="1095451"/>
            <a:ext cx="414589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Antigravity로 제작 가능한 교육용 웹앱 예시 (프로젝트편)</a:t>
            </a:r>
            <a:endParaRPr lang="en-US" sz="1300" dirty="0"/>
          </a:p>
        </p:txBody>
      </p:sp>
      <p:sp>
        <p:nvSpPr>
          <p:cNvPr id="25" name="Text 13"/>
          <p:cNvSpPr txBox="1"/>
          <p:nvPr/>
        </p:nvSpPr>
        <p:spPr>
          <a:xfrm>
            <a:off x="9827057" y="808330"/>
            <a:ext cx="15608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Sample Gallery Part 2</a:t>
            </a:r>
            <a:endParaRPr lang="en-US" sz="1000" dirty="0"/>
          </a:p>
        </p:txBody>
      </p:sp>
      <p:sp>
        <p:nvSpPr>
          <p:cNvPr id="26" name="Text 14"/>
          <p:cNvSpPr txBox="1"/>
          <p:nvPr/>
        </p:nvSpPr>
        <p:spPr>
          <a:xfrm>
            <a:off x="1114654" y="3585362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PRODUCTIVITY TOOL</a:t>
            </a:r>
            <a:endParaRPr lang="en-US" sz="900" dirty="0"/>
          </a:p>
        </p:txBody>
      </p:sp>
      <p:sp>
        <p:nvSpPr>
          <p:cNvPr id="27" name="Text 15"/>
          <p:cNvSpPr txBox="1"/>
          <p:nvPr/>
        </p:nvSpPr>
        <p:spPr>
          <a:xfrm>
            <a:off x="1000354" y="3833165"/>
            <a:ext cx="161757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타이머/스톱워치</a:t>
            </a:r>
            <a:endParaRPr lang="en-US" sz="1600" dirty="0"/>
          </a:p>
        </p:txBody>
      </p:sp>
      <p:sp>
        <p:nvSpPr>
          <p:cNvPr id="28" name="Text 16"/>
          <p:cNvSpPr txBox="1"/>
          <p:nvPr/>
        </p:nvSpPr>
        <p:spPr>
          <a:xfrm>
            <a:off x="1181405" y="4248302"/>
            <a:ext cx="19705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포모도로(집중/휴식) 사이클 설정</a:t>
            </a:r>
            <a:endParaRPr lang="en-US" sz="1000" dirty="0"/>
          </a:p>
        </p:txBody>
      </p:sp>
      <p:sp>
        <p:nvSpPr>
          <p:cNvPr id="29" name="Text 17"/>
          <p:cNvSpPr txBox="1"/>
          <p:nvPr/>
        </p:nvSpPr>
        <p:spPr>
          <a:xfrm>
            <a:off x="1181405" y="4511650"/>
            <a:ext cx="18461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랩(Lap) 기록 및 CSV 내보내기</a:t>
            </a:r>
            <a:endParaRPr lang="en-US" sz="1000" dirty="0"/>
          </a:p>
        </p:txBody>
      </p:sp>
      <p:sp>
        <p:nvSpPr>
          <p:cNvPr id="30" name="Text 18"/>
          <p:cNvSpPr txBox="1"/>
          <p:nvPr/>
        </p:nvSpPr>
        <p:spPr>
          <a:xfrm>
            <a:off x="1181405" y="4774082"/>
            <a:ext cx="1817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알람 소리 선택 및 시각적 알림</a:t>
            </a:r>
            <a:endParaRPr lang="en-US" sz="1000" dirty="0"/>
          </a:p>
        </p:txBody>
      </p:sp>
      <p:sp>
        <p:nvSpPr>
          <p:cNvPr id="31" name="Text 19"/>
          <p:cNvSpPr txBox="1"/>
          <p:nvPr/>
        </p:nvSpPr>
        <p:spPr>
          <a:xfrm>
            <a:off x="4746650" y="3585362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VISUALIZATION</a:t>
            </a:r>
            <a:endParaRPr lang="en-US" sz="900" dirty="0"/>
          </a:p>
        </p:txBody>
      </p:sp>
      <p:sp>
        <p:nvSpPr>
          <p:cNvPr id="32" name="Text 20"/>
          <p:cNvSpPr txBox="1"/>
          <p:nvPr/>
        </p:nvSpPr>
        <p:spPr>
          <a:xfrm>
            <a:off x="4632350" y="3833165"/>
            <a:ext cx="185623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진도 대시보드</a:t>
            </a:r>
            <a:endParaRPr lang="en-US" sz="1600" dirty="0"/>
          </a:p>
        </p:txBody>
      </p:sp>
      <p:sp>
        <p:nvSpPr>
          <p:cNvPr id="33" name="Text 21"/>
          <p:cNvSpPr txBox="1"/>
          <p:nvPr/>
        </p:nvSpPr>
        <p:spPr>
          <a:xfrm>
            <a:off x="4813402" y="4248302"/>
            <a:ext cx="190378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단원별 학습 완료율 차트 시각화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4813402" y="4511650"/>
            <a:ext cx="18178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시간 통계 및 비교 그래프</a:t>
            </a:r>
            <a:endParaRPr lang="en-US" sz="1000" dirty="0"/>
          </a:p>
        </p:txBody>
      </p:sp>
      <p:sp>
        <p:nvSpPr>
          <p:cNvPr id="35" name="Text 23"/>
          <p:cNvSpPr txBox="1"/>
          <p:nvPr/>
        </p:nvSpPr>
        <p:spPr>
          <a:xfrm>
            <a:off x="4813402" y="4774082"/>
            <a:ext cx="18937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PNG 이미지로 내보내기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8378647" y="3585362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EDUCATION TOOL</a:t>
            </a:r>
            <a:endParaRPr lang="en-US" sz="900" dirty="0"/>
          </a:p>
        </p:txBody>
      </p:sp>
      <p:sp>
        <p:nvSpPr>
          <p:cNvPr id="37" name="Text 25"/>
          <p:cNvSpPr txBox="1"/>
          <p:nvPr/>
        </p:nvSpPr>
        <p:spPr>
          <a:xfrm>
            <a:off x="8264347" y="3833165"/>
            <a:ext cx="165597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수학 문제 생성기</a:t>
            </a:r>
            <a:endParaRPr lang="en-US" sz="1600" dirty="0"/>
          </a:p>
        </p:txBody>
      </p:sp>
      <p:sp>
        <p:nvSpPr>
          <p:cNvPr id="38" name="Text 26"/>
          <p:cNvSpPr txBox="1"/>
          <p:nvPr/>
        </p:nvSpPr>
        <p:spPr>
          <a:xfrm>
            <a:off x="8445398" y="4248302"/>
            <a:ext cx="19412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방정식 유형 선택 및 무작위 생성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8445398" y="4511650"/>
            <a:ext cx="22558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단계별 풀이 과정(Step-by-step) 표시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8445398" y="4774082"/>
            <a:ext cx="168432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정답 입력 검증 및 해설 제공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771754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42" name="Shape 30"/>
          <p:cNvSpPr/>
          <p:nvPr/>
        </p:nvSpPr>
        <p:spPr>
          <a:xfrm>
            <a:off x="771754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3" name="Shape 31"/>
          <p:cNvSpPr/>
          <p:nvPr/>
        </p:nvSpPr>
        <p:spPr>
          <a:xfrm>
            <a:off x="1110082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1119226" y="1822399"/>
            <a:ext cx="2695651" cy="5760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5" name="Shape 33"/>
          <p:cNvSpPr/>
          <p:nvPr/>
        </p:nvSpPr>
        <p:spPr>
          <a:xfrm>
            <a:off x="1176833" y="1822399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46" name="Shape 34"/>
          <p:cNvSpPr/>
          <p:nvPr/>
        </p:nvSpPr>
        <p:spPr>
          <a:xfrm>
            <a:off x="1271930" y="1822399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47" name="Shape 35"/>
          <p:cNvSpPr/>
          <p:nvPr/>
        </p:nvSpPr>
        <p:spPr>
          <a:xfrm>
            <a:off x="1367028" y="1822399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48" name="Shape 36"/>
          <p:cNvSpPr/>
          <p:nvPr/>
        </p:nvSpPr>
        <p:spPr>
          <a:xfrm>
            <a:off x="1119226" y="1879092"/>
            <a:ext cx="2695651" cy="1333195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49" name="Shape 37"/>
          <p:cNvSpPr/>
          <p:nvPr/>
        </p:nvSpPr>
        <p:spPr>
          <a:xfrm>
            <a:off x="2083003" y="1879092"/>
            <a:ext cx="761695" cy="761695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C8181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0" name="Text 38"/>
          <p:cNvSpPr txBox="1"/>
          <p:nvPr/>
        </p:nvSpPr>
        <p:spPr>
          <a:xfrm>
            <a:off x="2209190" y="2123237"/>
            <a:ext cx="6519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53E3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25:00</a:t>
            </a:r>
            <a:endParaRPr lang="en-US" sz="1400" dirty="0"/>
          </a:p>
        </p:txBody>
      </p:sp>
      <p:sp>
        <p:nvSpPr>
          <p:cNvPr id="51" name="Shape 39"/>
          <p:cNvSpPr/>
          <p:nvPr/>
        </p:nvSpPr>
        <p:spPr>
          <a:xfrm>
            <a:off x="2197303" y="27560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87171"/>
          </a:solidFill>
          <a:ln/>
        </p:spPr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2268626" y="2812694"/>
            <a:ext cx="85954" cy="114300"/>
          </a:xfrm>
          <a:prstGeom prst="rect">
            <a:avLst/>
          </a:prstGeom>
        </p:spPr>
      </p:pic>
      <p:sp>
        <p:nvSpPr>
          <p:cNvPr id="53" name="Shape 40"/>
          <p:cNvSpPr/>
          <p:nvPr/>
        </p:nvSpPr>
        <p:spPr>
          <a:xfrm>
            <a:off x="2501798" y="2756002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D1D5DB"/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2559406" y="2812694"/>
            <a:ext cx="114300" cy="114300"/>
          </a:xfrm>
          <a:prstGeom prst="rect">
            <a:avLst/>
          </a:prstGeom>
        </p:spPr>
      </p:pic>
      <p:sp>
        <p:nvSpPr>
          <p:cNvPr id="55" name="Text 41"/>
          <p:cNvSpPr txBox="1"/>
          <p:nvPr/>
        </p:nvSpPr>
        <p:spPr>
          <a:xfrm>
            <a:off x="2097634" y="3051353"/>
            <a:ext cx="819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POMODORO</a:t>
            </a:r>
            <a:endParaRPr lang="en-US" sz="900" dirty="0"/>
          </a:p>
        </p:txBody>
      </p:sp>
      <p:sp>
        <p:nvSpPr>
          <p:cNvPr id="56" name="Shape 42"/>
          <p:cNvSpPr/>
          <p:nvPr/>
        </p:nvSpPr>
        <p:spPr>
          <a:xfrm>
            <a:off x="1000354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57" name="Shape 43"/>
          <p:cNvSpPr/>
          <p:nvPr/>
        </p:nvSpPr>
        <p:spPr>
          <a:xfrm>
            <a:off x="1114654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58" name="Shape 44"/>
          <p:cNvSpPr/>
          <p:nvPr/>
        </p:nvSpPr>
        <p:spPr>
          <a:xfrm>
            <a:off x="1190549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59" name="Text 45"/>
          <p:cNvSpPr txBox="1"/>
          <p:nvPr/>
        </p:nvSpPr>
        <p:spPr>
          <a:xfrm>
            <a:off x="1343254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60" name="Text 46"/>
          <p:cNvSpPr txBox="1"/>
          <p:nvPr/>
        </p:nvSpPr>
        <p:spPr>
          <a:xfrm>
            <a:off x="1152144" y="5466283"/>
            <a:ext cx="2593238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"Implement a Pomodoro timer with configurable session/break cycles, sound alerts, and lap history export to CSV."</a:t>
            </a:r>
            <a:endParaRPr lang="en-US" sz="1000" dirty="0"/>
          </a:p>
        </p:txBody>
      </p:sp>
      <p:sp>
        <p:nvSpPr>
          <p:cNvPr id="61" name="Shape 47"/>
          <p:cNvSpPr/>
          <p:nvPr/>
        </p:nvSpPr>
        <p:spPr>
          <a:xfrm>
            <a:off x="4403750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62" name="Shape 48"/>
          <p:cNvSpPr/>
          <p:nvPr/>
        </p:nvSpPr>
        <p:spPr>
          <a:xfrm>
            <a:off x="4403750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3" name="Shape 49"/>
          <p:cNvSpPr/>
          <p:nvPr/>
        </p:nvSpPr>
        <p:spPr>
          <a:xfrm>
            <a:off x="4742078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4" name="Shape 50"/>
          <p:cNvSpPr/>
          <p:nvPr/>
        </p:nvSpPr>
        <p:spPr>
          <a:xfrm>
            <a:off x="4751222" y="1822399"/>
            <a:ext cx="2695651" cy="5760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65" name="Shape 51"/>
          <p:cNvSpPr/>
          <p:nvPr/>
        </p:nvSpPr>
        <p:spPr>
          <a:xfrm>
            <a:off x="4808830" y="1822399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66" name="Shape 52"/>
          <p:cNvSpPr/>
          <p:nvPr/>
        </p:nvSpPr>
        <p:spPr>
          <a:xfrm>
            <a:off x="4903927" y="1822399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67" name="Shape 53"/>
          <p:cNvSpPr/>
          <p:nvPr/>
        </p:nvSpPr>
        <p:spPr>
          <a:xfrm>
            <a:off x="4999025" y="1822399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68" name="Shape 54"/>
          <p:cNvSpPr/>
          <p:nvPr/>
        </p:nvSpPr>
        <p:spPr>
          <a:xfrm>
            <a:off x="4751222" y="1879092"/>
            <a:ext cx="2695651" cy="13716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9" name="Shape 55"/>
          <p:cNvSpPr/>
          <p:nvPr/>
        </p:nvSpPr>
        <p:spPr>
          <a:xfrm>
            <a:off x="4847234" y="1975104"/>
            <a:ext cx="1000354" cy="75895"/>
          </a:xfrm>
          <a:prstGeom prst="roundRect">
            <a:avLst>
              <a:gd name="adj" fmla="val 602411"/>
            </a:avLst>
          </a:prstGeom>
          <a:solidFill>
            <a:srgbClr val="CBD5E0"/>
          </a:solidFill>
          <a:ln/>
        </p:spPr>
      </p:sp>
      <p:sp>
        <p:nvSpPr>
          <p:cNvPr id="70" name="Shape 56"/>
          <p:cNvSpPr/>
          <p:nvPr/>
        </p:nvSpPr>
        <p:spPr>
          <a:xfrm>
            <a:off x="4847234" y="2165299"/>
            <a:ext cx="1619402" cy="571500"/>
          </a:xfrm>
          <a:prstGeom prst="roundRect">
            <a:avLst>
              <a:gd name="adj" fmla="val 10667"/>
            </a:avLst>
          </a:prstGeom>
          <a:solidFill>
            <a:srgbClr val="63B3ED"/>
          </a:solidFill>
          <a:ln/>
        </p:spPr>
      </p:sp>
      <p:sp>
        <p:nvSpPr>
          <p:cNvPr id="71" name="Shape 57"/>
          <p:cNvSpPr/>
          <p:nvPr/>
        </p:nvSpPr>
        <p:spPr>
          <a:xfrm>
            <a:off x="4884725" y="2298802"/>
            <a:ext cx="362102" cy="400507"/>
          </a:xfrm>
          <a:prstGeom prst="roundRect">
            <a:avLst>
              <a:gd name="adj" fmla="val 13291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2" name="Shape 58"/>
          <p:cNvSpPr/>
          <p:nvPr/>
        </p:nvSpPr>
        <p:spPr>
          <a:xfrm>
            <a:off x="5278831" y="2432304"/>
            <a:ext cx="362102" cy="267005"/>
          </a:xfrm>
          <a:prstGeom prst="roundRect">
            <a:avLst>
              <a:gd name="adj" fmla="val 24462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3" name="Shape 59"/>
          <p:cNvSpPr/>
          <p:nvPr/>
        </p:nvSpPr>
        <p:spPr>
          <a:xfrm>
            <a:off x="5672938" y="2165299"/>
            <a:ext cx="362102" cy="533095"/>
          </a:xfrm>
          <a:prstGeom prst="roundRect">
            <a:avLst>
              <a:gd name="adj" fmla="val 13291"/>
            </a:avLst>
          </a:prstGeom>
          <a:solidFill>
            <a:srgbClr val="FFFFFF">
              <a:alpha val="70000"/>
            </a:srgbClr>
          </a:solidFill>
          <a:ln/>
        </p:spPr>
      </p:sp>
      <p:sp>
        <p:nvSpPr>
          <p:cNvPr id="74" name="Shape 60"/>
          <p:cNvSpPr/>
          <p:nvPr/>
        </p:nvSpPr>
        <p:spPr>
          <a:xfrm>
            <a:off x="6067044" y="2342693"/>
            <a:ext cx="362102" cy="362102"/>
          </a:xfrm>
          <a:prstGeom prst="roundRect">
            <a:avLst>
              <a:gd name="adj" fmla="val 13291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5" name="Shape 61"/>
          <p:cNvSpPr/>
          <p:nvPr/>
        </p:nvSpPr>
        <p:spPr>
          <a:xfrm>
            <a:off x="6537960" y="2165299"/>
            <a:ext cx="809244" cy="571500"/>
          </a:xfrm>
          <a:prstGeom prst="ellipse">
            <a:avLst/>
          </a:prstGeom>
          <a:solidFill>
            <a:srgbClr val="90CDF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76" name="Shape 62"/>
          <p:cNvSpPr/>
          <p:nvPr/>
        </p:nvSpPr>
        <p:spPr>
          <a:xfrm>
            <a:off x="4847234" y="2851099"/>
            <a:ext cx="2505456" cy="304495"/>
          </a:xfrm>
          <a:prstGeom prst="roundRect">
            <a:avLst>
              <a:gd name="adj" fmla="val 37538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77" name="Shape 63"/>
          <p:cNvSpPr/>
          <p:nvPr/>
        </p:nvSpPr>
        <p:spPr>
          <a:xfrm>
            <a:off x="4932274" y="2926994"/>
            <a:ext cx="152705" cy="152705"/>
          </a:xfrm>
          <a:prstGeom prst="roundRect">
            <a:avLst>
              <a:gd name="adj" fmla="val 598802"/>
            </a:avLst>
          </a:prstGeom>
          <a:solidFill>
            <a:srgbClr val="BFDBFE"/>
          </a:solidFill>
          <a:ln/>
        </p:spPr>
      </p:sp>
      <p:sp>
        <p:nvSpPr>
          <p:cNvPr id="78" name="Shape 64"/>
          <p:cNvSpPr/>
          <p:nvPr/>
        </p:nvSpPr>
        <p:spPr>
          <a:xfrm>
            <a:off x="5160874" y="2965399"/>
            <a:ext cx="11713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79" name="Shape 65"/>
          <p:cNvSpPr/>
          <p:nvPr/>
        </p:nvSpPr>
        <p:spPr>
          <a:xfrm>
            <a:off x="4632350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80" name="Shape 66"/>
          <p:cNvSpPr/>
          <p:nvPr/>
        </p:nvSpPr>
        <p:spPr>
          <a:xfrm>
            <a:off x="4746650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81" name="Shape 67"/>
          <p:cNvSpPr/>
          <p:nvPr/>
        </p:nvSpPr>
        <p:spPr>
          <a:xfrm>
            <a:off x="4822546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82" name="Text 68"/>
          <p:cNvSpPr txBox="1"/>
          <p:nvPr/>
        </p:nvSpPr>
        <p:spPr>
          <a:xfrm>
            <a:off x="4975250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83" name="Text 69"/>
          <p:cNvSpPr txBox="1"/>
          <p:nvPr/>
        </p:nvSpPr>
        <p:spPr>
          <a:xfrm>
            <a:off x="4785055" y="5466283"/>
            <a:ext cx="2669134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"Create a class progress dashboard that renders completion rate by unit using Chart.js, with filtering and export to PNG."</a:t>
            </a:r>
            <a:endParaRPr lang="en-US" sz="1000" dirty="0"/>
          </a:p>
        </p:txBody>
      </p:sp>
      <p:sp>
        <p:nvSpPr>
          <p:cNvPr id="84" name="Shape 70"/>
          <p:cNvSpPr/>
          <p:nvPr/>
        </p:nvSpPr>
        <p:spPr>
          <a:xfrm>
            <a:off x="8035747" y="1642262"/>
            <a:ext cx="3390595" cy="1714500"/>
          </a:xfrm>
          <a:prstGeom prst="rect">
            <a:avLst/>
          </a:prstGeom>
          <a:solidFill>
            <a:srgbClr val="F7FAFC"/>
          </a:solidFill>
          <a:ln/>
        </p:spPr>
      </p:sp>
      <p:sp>
        <p:nvSpPr>
          <p:cNvPr id="85" name="Shape 71"/>
          <p:cNvSpPr/>
          <p:nvPr/>
        </p:nvSpPr>
        <p:spPr>
          <a:xfrm>
            <a:off x="8035747" y="3347618"/>
            <a:ext cx="3390595" cy="91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6" name="Shape 72"/>
          <p:cNvSpPr/>
          <p:nvPr/>
        </p:nvSpPr>
        <p:spPr>
          <a:xfrm>
            <a:off x="8374075" y="1812341"/>
            <a:ext cx="2714854" cy="137160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87" name="Shape 73"/>
          <p:cNvSpPr/>
          <p:nvPr/>
        </p:nvSpPr>
        <p:spPr>
          <a:xfrm>
            <a:off x="8384134" y="1822399"/>
            <a:ext cx="2695651" cy="57607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88" name="Shape 74"/>
          <p:cNvSpPr/>
          <p:nvPr/>
        </p:nvSpPr>
        <p:spPr>
          <a:xfrm>
            <a:off x="8440826" y="1822399"/>
            <a:ext cx="57607" cy="57607"/>
          </a:xfrm>
          <a:prstGeom prst="ellipse">
            <a:avLst/>
          </a:prstGeom>
          <a:solidFill>
            <a:srgbClr val="FC8181"/>
          </a:solidFill>
          <a:ln/>
        </p:spPr>
      </p:sp>
      <p:sp>
        <p:nvSpPr>
          <p:cNvPr id="89" name="Shape 75"/>
          <p:cNvSpPr/>
          <p:nvPr/>
        </p:nvSpPr>
        <p:spPr>
          <a:xfrm>
            <a:off x="8535924" y="1822399"/>
            <a:ext cx="57607" cy="57607"/>
          </a:xfrm>
          <a:prstGeom prst="ellipse">
            <a:avLst/>
          </a:prstGeom>
          <a:solidFill>
            <a:srgbClr val="F6E05E"/>
          </a:solidFill>
          <a:ln/>
        </p:spPr>
      </p:sp>
      <p:sp>
        <p:nvSpPr>
          <p:cNvPr id="90" name="Shape 76"/>
          <p:cNvSpPr/>
          <p:nvPr/>
        </p:nvSpPr>
        <p:spPr>
          <a:xfrm>
            <a:off x="8631022" y="1822399"/>
            <a:ext cx="57607" cy="57607"/>
          </a:xfrm>
          <a:prstGeom prst="ellipse">
            <a:avLst/>
          </a:prstGeom>
          <a:solidFill>
            <a:srgbClr val="68D391"/>
          </a:solidFill>
          <a:ln/>
        </p:spPr>
      </p:sp>
      <p:sp>
        <p:nvSpPr>
          <p:cNvPr id="91" name="Shape 77"/>
          <p:cNvSpPr/>
          <p:nvPr/>
        </p:nvSpPr>
        <p:spPr>
          <a:xfrm>
            <a:off x="8384134" y="1879092"/>
            <a:ext cx="2695651" cy="1399946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92" name="Text 78"/>
          <p:cNvSpPr txBox="1"/>
          <p:nvPr/>
        </p:nvSpPr>
        <p:spPr>
          <a:xfrm>
            <a:off x="9325966" y="2022653"/>
            <a:ext cx="93543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D37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2x + 5 = 13</a:t>
            </a:r>
            <a:endParaRPr lang="en-US" sz="1300" dirty="0"/>
          </a:p>
        </p:txBody>
      </p:sp>
      <p:sp>
        <p:nvSpPr>
          <p:cNvPr id="93" name="Shape 79"/>
          <p:cNvSpPr/>
          <p:nvPr/>
        </p:nvSpPr>
        <p:spPr>
          <a:xfrm>
            <a:off x="8498434" y="2340864"/>
            <a:ext cx="2467051" cy="152705"/>
          </a:xfrm>
          <a:prstGeom prst="roundRect">
            <a:avLst>
              <a:gd name="adj" fmla="val 1497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80"/>
          <p:cNvSpPr txBox="1"/>
          <p:nvPr/>
        </p:nvSpPr>
        <p:spPr>
          <a:xfrm>
            <a:off x="8565185" y="2348179"/>
            <a:ext cx="6483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1: 2x = 8</a:t>
            </a:r>
            <a:endParaRPr lang="en-US" sz="800" dirty="0"/>
          </a:p>
        </p:txBody>
      </p:sp>
      <p:sp>
        <p:nvSpPr>
          <p:cNvPr id="95" name="Shape 81"/>
          <p:cNvSpPr/>
          <p:nvPr/>
        </p:nvSpPr>
        <p:spPr>
          <a:xfrm>
            <a:off x="8498434" y="2550262"/>
            <a:ext cx="2467051" cy="152705"/>
          </a:xfrm>
          <a:prstGeom prst="roundRect">
            <a:avLst>
              <a:gd name="adj" fmla="val 149700"/>
            </a:avLst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82"/>
          <p:cNvSpPr txBox="1"/>
          <p:nvPr/>
        </p:nvSpPr>
        <p:spPr>
          <a:xfrm>
            <a:off x="8565185" y="2557577"/>
            <a:ext cx="6007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2: x = 4</a:t>
            </a:r>
            <a:endParaRPr lang="en-US" sz="800" dirty="0"/>
          </a:p>
        </p:txBody>
      </p:sp>
      <p:sp>
        <p:nvSpPr>
          <p:cNvPr id="97" name="Shape 83"/>
          <p:cNvSpPr/>
          <p:nvPr/>
        </p:nvSpPr>
        <p:spPr>
          <a:xfrm>
            <a:off x="9346997" y="2798064"/>
            <a:ext cx="761695" cy="190195"/>
          </a:xfrm>
          <a:prstGeom prst="roundRect">
            <a:avLst>
              <a:gd name="adj" fmla="val 96154"/>
            </a:avLst>
          </a:prstGeom>
          <a:solidFill>
            <a:srgbClr val="48BB78"/>
          </a:solidFill>
          <a:ln/>
        </p:spPr>
      </p:sp>
      <p:sp>
        <p:nvSpPr>
          <p:cNvPr id="98" name="Text 84"/>
          <p:cNvSpPr txBox="1"/>
          <p:nvPr/>
        </p:nvSpPr>
        <p:spPr>
          <a:xfrm>
            <a:off x="9411005" y="2824582"/>
            <a:ext cx="7150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 Answer</a:t>
            </a:r>
            <a:endParaRPr lang="en-US" sz="800" dirty="0"/>
          </a:p>
        </p:txBody>
      </p:sp>
      <p:sp>
        <p:nvSpPr>
          <p:cNvPr id="99" name="Shape 85"/>
          <p:cNvSpPr/>
          <p:nvPr/>
        </p:nvSpPr>
        <p:spPr>
          <a:xfrm>
            <a:off x="9537192" y="308335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100" name="Shape 86"/>
          <p:cNvSpPr/>
          <p:nvPr/>
        </p:nvSpPr>
        <p:spPr>
          <a:xfrm>
            <a:off x="9689897" y="308335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D1D5DB"/>
          </a:solidFill>
          <a:ln/>
        </p:spPr>
      </p:sp>
      <p:sp>
        <p:nvSpPr>
          <p:cNvPr id="101" name="Shape 87"/>
          <p:cNvSpPr/>
          <p:nvPr/>
        </p:nvSpPr>
        <p:spPr>
          <a:xfrm>
            <a:off x="9842602" y="3083357"/>
            <a:ext cx="75895" cy="75895"/>
          </a:xfrm>
          <a:prstGeom prst="roundRect">
            <a:avLst>
              <a:gd name="adj" fmla="val 1204822"/>
            </a:avLst>
          </a:prstGeom>
          <a:solidFill>
            <a:srgbClr val="10B981"/>
          </a:solidFill>
          <a:ln/>
        </p:spPr>
      </p:sp>
      <p:sp>
        <p:nvSpPr>
          <p:cNvPr id="102" name="Shape 88"/>
          <p:cNvSpPr/>
          <p:nvPr/>
        </p:nvSpPr>
        <p:spPr>
          <a:xfrm>
            <a:off x="8264347" y="5294376"/>
            <a:ext cx="2933395" cy="857707"/>
          </a:xfrm>
          <a:prstGeom prst="roundRect">
            <a:avLst>
              <a:gd name="adj" fmla="val 14215"/>
            </a:avLst>
          </a:prstGeom>
          <a:solidFill>
            <a:srgbClr val="2D3748"/>
          </a:solidFill>
          <a:ln/>
        </p:spPr>
      </p:sp>
      <p:sp>
        <p:nvSpPr>
          <p:cNvPr id="103" name="Shape 89"/>
          <p:cNvSpPr/>
          <p:nvPr/>
        </p:nvSpPr>
        <p:spPr>
          <a:xfrm>
            <a:off x="8378647" y="5199278"/>
            <a:ext cx="1314907" cy="200254"/>
          </a:xfrm>
          <a:prstGeom prst="roundRect">
            <a:avLst>
              <a:gd name="adj" fmla="val 86975"/>
            </a:avLst>
          </a:prstGeom>
          <a:solidFill>
            <a:srgbClr val="4A5568"/>
          </a:solidFill>
          <a:ln/>
        </p:spPr>
      </p:sp>
      <p:sp>
        <p:nvSpPr>
          <p:cNvPr id="104" name="Shape 90"/>
          <p:cNvSpPr/>
          <p:nvPr/>
        </p:nvSpPr>
        <p:spPr>
          <a:xfrm>
            <a:off x="8454542" y="5241341"/>
            <a:ext cx="114300" cy="114300"/>
          </a:xfrm>
          <a:prstGeom prst="roundRect">
            <a:avLst>
              <a:gd name="adj" fmla="val 133333"/>
            </a:avLst>
          </a:prstGeom>
          <a:solidFill>
            <a:srgbClr val="4FD1C5"/>
          </a:solidFill>
          <a:ln/>
        </p:spPr>
      </p:sp>
      <p:sp>
        <p:nvSpPr>
          <p:cNvPr id="105" name="Text 91"/>
          <p:cNvSpPr txBox="1"/>
          <p:nvPr/>
        </p:nvSpPr>
        <p:spPr>
          <a:xfrm>
            <a:off x="8607247" y="5218481"/>
            <a:ext cx="108996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Prompt</a:t>
            </a:r>
            <a:endParaRPr lang="en-US" sz="800" dirty="0"/>
          </a:p>
        </p:txBody>
      </p:sp>
      <p:sp>
        <p:nvSpPr>
          <p:cNvPr id="106" name="Text 92"/>
          <p:cNvSpPr txBox="1"/>
          <p:nvPr/>
        </p:nvSpPr>
        <p:spPr>
          <a:xfrm>
            <a:off x="8417052" y="5466283"/>
            <a:ext cx="2507285" cy="876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"Build a math problem generator for linear equations that provides infinite practice problems with step-by-step solutions."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7429500" y="-952805"/>
            <a:ext cx="5715000" cy="5715000"/>
          </a:xfrm>
          <a:prstGeom prst="ellipse">
            <a:avLst/>
          </a:prstGeom>
          <a:solidFill>
            <a:srgbClr val="EBF8FF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3524098"/>
            <a:ext cx="4762195" cy="4762195"/>
          </a:xfrm>
          <a:prstGeom prst="ellipse">
            <a:avLst/>
          </a:prstGeom>
          <a:solidFill>
            <a:srgbClr val="F0FFF4">
              <a:alpha val="7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536278" y="822960"/>
            <a:ext cx="1895551" cy="400507"/>
          </a:xfrm>
          <a:prstGeom prst="roundRect">
            <a:avLst>
              <a:gd name="adj" fmla="val 22831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282" r="-1282" t="0" b="0"/>
          <a:stretch/>
        </p:blipFill>
        <p:spPr>
          <a:xfrm>
            <a:off x="9736531" y="928116"/>
            <a:ext cx="219456" cy="1901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428854"/>
            <a:ext cx="17529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방법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972007"/>
            <a:ext cx="29644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Evaluation Criteria &amp; Grading Rubric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31882" y="908914"/>
            <a:ext cx="1314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100 Points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61695" y="1508760"/>
            <a:ext cx="4153205" cy="4876495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76200">
            <a:solidFill>
              <a:srgbClr val="4299E1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076602" y="2130552"/>
            <a:ext cx="1524305" cy="1524305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33802" y="3940150"/>
            <a:ext cx="609905" cy="609905"/>
          </a:xfrm>
          <a:prstGeom prst="roundRect">
            <a:avLst>
              <a:gd name="adj" fmla="val 28111"/>
            </a:avLst>
          </a:prstGeom>
          <a:solidFill>
            <a:srgbClr val="EBF8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686507" y="4092854"/>
            <a:ext cx="304495" cy="30449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042770" y="4750308"/>
            <a:ext cx="180594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프로젝트</a:t>
            </a:r>
            <a:endParaRPr lang="en-US" sz="2100" dirty="0"/>
          </a:p>
        </p:txBody>
      </p:sp>
      <p:sp>
        <p:nvSpPr>
          <p:cNvPr id="16" name="Text 11"/>
          <p:cNvSpPr txBox="1"/>
          <p:nvPr/>
        </p:nvSpPr>
        <p:spPr>
          <a:xfrm>
            <a:off x="1161288" y="5304434"/>
            <a:ext cx="348843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7-8차시 최종 완성 및 발표 • 문제해결의 독창성 • 교육 현장 적용 가능성 • UI/UX 완성도 및 배포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201107" y="1508760"/>
            <a:ext cx="3000146" cy="232440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5438851" y="1746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-80" r="-80" t="0" b="0"/>
          <a:stretch/>
        </p:blipFill>
        <p:spPr>
          <a:xfrm>
            <a:off x="5524805" y="1860804"/>
            <a:ext cx="286207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438851" y="2308860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 프로젝트</a:t>
            </a:r>
            <a:endParaRPr lang="en-US" sz="15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91095" y="1746504"/>
            <a:ext cx="571500" cy="5715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438851" y="3158338"/>
            <a:ext cx="2471623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기능 단위 구현 실습 4차시: 미니앱 데모 시연 및 평가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8429854" y="1508760"/>
            <a:ext cx="3000146" cy="232440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667598" y="174650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rcRect l="-133" r="-133" t="0" b="0"/>
          <a:stretch/>
        </p:blipFill>
        <p:spPr>
          <a:xfrm>
            <a:off x="8810244" y="1860804"/>
            <a:ext cx="171907" cy="22860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667598" y="230886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주차별 과제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620756" y="1746504"/>
            <a:ext cx="571500" cy="57150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667598" y="3158338"/>
            <a:ext cx="26234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 달성 여부 2차시(PRD v1) • 6차시(베타 배포)</a:t>
            </a:r>
            <a:endParaRPr lang="en-US" sz="1100" dirty="0"/>
          </a:p>
        </p:txBody>
      </p:sp>
      <p:sp>
        <p:nvSpPr>
          <p:cNvPr id="29" name="Shape 20"/>
          <p:cNvSpPr/>
          <p:nvPr/>
        </p:nvSpPr>
        <p:spPr>
          <a:xfrm>
            <a:off x="5201107" y="4059936"/>
            <a:ext cx="3000146" cy="232440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30" name="Shape 21"/>
          <p:cNvSpPr/>
          <p:nvPr/>
        </p:nvSpPr>
        <p:spPr>
          <a:xfrm>
            <a:off x="5438851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/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-80" r="-80" t="0" b="0"/>
          <a:stretch/>
        </p:blipFill>
        <p:spPr>
          <a:xfrm>
            <a:off x="5524805" y="4411980"/>
            <a:ext cx="286207" cy="22860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5438851" y="4860036"/>
            <a:ext cx="1019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출석 · 참여</a:t>
            </a:r>
            <a:endParaRPr lang="en-US" sz="15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391095" y="4297680"/>
            <a:ext cx="571500" cy="57150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438851" y="5709514"/>
            <a:ext cx="2556662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8차시(16주) 전출 원칙 실습 참여도 및 결석 시 감점 처리</a:t>
            </a:r>
            <a:endParaRPr lang="en-US" sz="1100" dirty="0"/>
          </a:p>
        </p:txBody>
      </p:sp>
      <p:sp>
        <p:nvSpPr>
          <p:cNvPr id="35" name="Shape 24"/>
          <p:cNvSpPr/>
          <p:nvPr/>
        </p:nvSpPr>
        <p:spPr>
          <a:xfrm>
            <a:off x="8429854" y="4059936"/>
            <a:ext cx="3000146" cy="2324405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241300" dist="101600" dir="5400000">
              <a:srgbClr val="000000">
                <a:alpha val="5000"/>
              </a:srgbClr>
            </a:outerShdw>
          </a:effectLst>
        </p:spPr>
      </p:sp>
      <p:sp>
        <p:nvSpPr>
          <p:cNvPr id="36" name="Shape 25"/>
          <p:cNvSpPr/>
          <p:nvPr/>
        </p:nvSpPr>
        <p:spPr>
          <a:xfrm>
            <a:off x="8667598" y="42976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/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rcRect l="-80" r="-80" t="0" b="0"/>
          <a:stretch/>
        </p:blipFill>
        <p:spPr>
          <a:xfrm>
            <a:off x="8753551" y="4411980"/>
            <a:ext cx="286207" cy="228600"/>
          </a:xfrm>
          <a:prstGeom prst="rect">
            <a:avLst/>
          </a:prstGeom>
        </p:spPr>
      </p:pic>
      <p:sp>
        <p:nvSpPr>
          <p:cNvPr id="38" name="Text 26"/>
          <p:cNvSpPr txBox="1"/>
          <p:nvPr/>
        </p:nvSpPr>
        <p:spPr>
          <a:xfrm>
            <a:off x="8667598" y="4860036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피어 리뷰</a:t>
            </a:r>
            <a:endParaRPr lang="en-US" sz="15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620756" y="4297680"/>
            <a:ext cx="571500" cy="57150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8667598" y="5709514"/>
            <a:ext cx="2623414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동료 평가 및 피드백 제공 건설적이고 구체적인 피드백 작성</a:t>
            </a:r>
            <a:endParaRPr lang="en-US" sz="1100" dirty="0"/>
          </a:p>
        </p:txBody>
      </p:sp>
      <p:sp>
        <p:nvSpPr>
          <p:cNvPr id="41" name="Shape 28"/>
          <p:cNvSpPr/>
          <p:nvPr/>
        </p:nvSpPr>
        <p:spPr>
          <a:xfrm>
            <a:off x="761695" y="5905195"/>
            <a:ext cx="10668305" cy="571500"/>
          </a:xfrm>
          <a:prstGeom prst="roundRect">
            <a:avLst>
              <a:gd name="adj" fmla="val 21333"/>
            </a:avLst>
          </a:prstGeom>
          <a:solidFill>
            <a:srgbClr val="FFFAF0"/>
          </a:solidFill>
          <a:ln/>
          <a:effectLst>
            <a:outerShdw sx="100000" sy="100000" kx="0" ky="0" algn="bl" rotWithShape="0" blurRad="63500" dist="38100" dir="5400000">
              <a:srgbClr val="000000">
                <a:alpha val="2000"/>
              </a:srgbClr>
            </a:outerShdw>
          </a:effectLst>
        </p:spPr>
      </p:sp>
      <p:sp>
        <p:nvSpPr>
          <p:cNvPr id="42" name="Shape 29"/>
          <p:cNvSpPr/>
          <p:nvPr/>
        </p:nvSpPr>
        <p:spPr>
          <a:xfrm>
            <a:off x="761695" y="5905195"/>
            <a:ext cx="38405" cy="571500"/>
          </a:xfrm>
          <a:prstGeom prst="rect">
            <a:avLst/>
          </a:prstGeom>
          <a:solidFill>
            <a:srgbClr val="ED8936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90295" y="6096305"/>
            <a:ext cx="190195" cy="190195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1295705" y="6019495"/>
            <a:ext cx="1862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유의사항 (Important Notice)</a:t>
            </a:r>
            <a:endParaRPr lang="en-US" sz="1000" dirty="0"/>
          </a:p>
        </p:txBody>
      </p:sp>
      <p:sp>
        <p:nvSpPr>
          <p:cNvPr id="45" name="Text 31"/>
          <p:cNvSpPr txBox="1"/>
          <p:nvPr/>
        </p:nvSpPr>
        <p:spPr>
          <a:xfrm>
            <a:off x="1295705" y="6200546"/>
            <a:ext cx="4734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코드를 무단 도용하거나 저작권 및 연구 윤리 규정을 위반할 경우 F학점 처리될 수 있습니다.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382305" y="-952805"/>
            <a:ext cx="4762195" cy="4762195"/>
          </a:xfrm>
          <a:prstGeom prst="ellipse">
            <a:avLst/>
          </a:prstGeom>
          <a:solidFill>
            <a:srgbClr val="EBF8FF"/>
          </a:solidFill>
          <a:ln/>
        </p:spPr>
      </p:sp>
      <p:sp>
        <p:nvSpPr>
          <p:cNvPr id="5" name="Shape 3"/>
          <p:cNvSpPr/>
          <p:nvPr/>
        </p:nvSpPr>
        <p:spPr>
          <a:xfrm>
            <a:off x="-476402" y="2572207"/>
            <a:ext cx="5715000" cy="5715000"/>
          </a:xfrm>
          <a:prstGeom prst="ellipse">
            <a:avLst/>
          </a:prstGeom>
          <a:solidFill>
            <a:srgbClr val="F0FFF4"/>
          </a:solidFill>
          <a:ln/>
        </p:spPr>
      </p:sp>
      <p:sp>
        <p:nvSpPr>
          <p:cNvPr id="6" name="Shape 4"/>
          <p:cNvSpPr/>
          <p:nvPr/>
        </p:nvSpPr>
        <p:spPr>
          <a:xfrm>
            <a:off x="10420502" y="903427"/>
            <a:ext cx="1104595" cy="362102"/>
          </a:xfrm>
          <a:prstGeom prst="roundRect">
            <a:avLst>
              <a:gd name="adj" fmla="val 132908"/>
            </a:avLst>
          </a:prstGeom>
          <a:solidFill>
            <a:srgbClr val="EBF4FF"/>
          </a:solidFill>
          <a:ln/>
          <a:effectLst>
            <a:outerShdw sx="100000" sy="100000" kx="0" ky="0" algn="bl" rotWithShape="0" blurRad="38100" dist="25400" dir="5400000">
              <a:srgbClr val="4299e1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2512" r="-2512" t="0" b="0"/>
          <a:stretch/>
        </p:blipFill>
        <p:spPr>
          <a:xfrm>
            <a:off x="10573207" y="1015898"/>
            <a:ext cx="105156" cy="1335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754258" y="979322"/>
            <a:ext cx="7223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182C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Checklist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6598" y="428854"/>
            <a:ext cx="20958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준비물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66598" y="1009498"/>
            <a:ext cx="37554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기반 바이브코딩 실습을 위한 사전 준비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66598" y="1499616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6656" y="1508760"/>
            <a:ext cx="3476549" cy="38405"/>
          </a:xfrm>
          <a:prstGeom prst="rect">
            <a:avLst/>
          </a:prstGeom>
          <a:solidFill>
            <a:srgbClr val="4299E1"/>
          </a:solidFill>
          <a:ln/>
        </p:spPr>
      </p:sp>
      <p:sp>
        <p:nvSpPr>
          <p:cNvPr id="13" name="Shape 10"/>
          <p:cNvSpPr/>
          <p:nvPr/>
        </p:nvSpPr>
        <p:spPr>
          <a:xfrm>
            <a:off x="847649" y="1680667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BF8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505" r="-505" t="0" b="0"/>
          <a:stretch/>
        </p:blipFill>
        <p:spPr>
          <a:xfrm>
            <a:off x="933602" y="1789481"/>
            <a:ext cx="228600" cy="18105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62456" y="1748333"/>
            <a:ext cx="7799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하드웨어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7649" y="2242109"/>
            <a:ext cx="152705" cy="15270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095451" y="2203704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개인 노트북</a:t>
            </a:r>
            <a:endParaRPr lang="en-US" sz="1100" dirty="0"/>
          </a:p>
        </p:txBody>
      </p:sp>
      <p:sp>
        <p:nvSpPr>
          <p:cNvPr id="18" name="Text 13"/>
          <p:cNvSpPr txBox="1"/>
          <p:nvPr/>
        </p:nvSpPr>
        <p:spPr>
          <a:xfrm>
            <a:off x="1095451" y="2435047"/>
            <a:ext cx="21396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Chrome 구동 원활한 사양 (RAM 8GB+)</a:t>
            </a:r>
            <a:endParaRPr lang="en-US" sz="9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7649" y="2732227"/>
            <a:ext cx="152705" cy="152705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095451" y="2694737"/>
            <a:ext cx="9948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웹캠 및 마이크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1095451" y="2926080"/>
            <a:ext cx="12060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협업 및 발표용</a:t>
            </a:r>
            <a:endParaRPr lang="en-US" sz="9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3223260"/>
            <a:ext cx="152705" cy="15270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095451" y="3184855"/>
            <a:ext cx="12326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듀얼 모니터 (권장)</a:t>
            </a:r>
            <a:endParaRPr lang="en-US" sz="1100" dirty="0"/>
          </a:p>
        </p:txBody>
      </p:sp>
      <p:sp>
        <p:nvSpPr>
          <p:cNvPr id="24" name="Text 17"/>
          <p:cNvSpPr txBox="1"/>
          <p:nvPr/>
        </p:nvSpPr>
        <p:spPr>
          <a:xfrm>
            <a:off x="1095451" y="3416198"/>
            <a:ext cx="111099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실습/강의 화면 분리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4349801" y="1499616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358945" y="1508760"/>
            <a:ext cx="3476549" cy="38405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7" name="Shape 20"/>
          <p:cNvSpPr/>
          <p:nvPr/>
        </p:nvSpPr>
        <p:spPr>
          <a:xfrm>
            <a:off x="4530852" y="1680667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AF5FF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640580" y="1789481"/>
            <a:ext cx="181051" cy="181051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044745" y="1748333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계정 준비</a:t>
            </a:r>
            <a:endParaRPr lang="en-US" sz="13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530852" y="2242109"/>
            <a:ext cx="152705" cy="15270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778654" y="2203704"/>
            <a:ext cx="9189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 계정</a:t>
            </a:r>
            <a:endParaRPr lang="en-US" sz="1100" dirty="0"/>
          </a:p>
        </p:txBody>
      </p:sp>
      <p:sp>
        <p:nvSpPr>
          <p:cNvPr id="32" name="Text 23"/>
          <p:cNvSpPr txBox="1"/>
          <p:nvPr/>
        </p:nvSpPr>
        <p:spPr>
          <a:xfrm>
            <a:off x="4778654" y="2435047"/>
            <a:ext cx="185440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액세스 권한 확인 필수</a:t>
            </a:r>
            <a:endParaRPr lang="en-US" sz="9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4530852" y="2732227"/>
            <a:ext cx="152705" cy="152705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4778654" y="2694737"/>
            <a:ext cx="9189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GitHub 계정</a:t>
            </a:r>
            <a:endParaRPr lang="en-US" sz="1100" dirty="0"/>
          </a:p>
        </p:txBody>
      </p:sp>
      <p:sp>
        <p:nvSpPr>
          <p:cNvPr id="35" name="Text 25"/>
          <p:cNvSpPr txBox="1"/>
          <p:nvPr/>
        </p:nvSpPr>
        <p:spPr>
          <a:xfrm>
            <a:off x="4778654" y="2926080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소스코드 저장 및 배포용</a:t>
            </a:r>
            <a:endParaRPr lang="en-US" sz="900" dirty="0"/>
          </a:p>
        </p:txBody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30852" y="3223260"/>
            <a:ext cx="152705" cy="152705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4778654" y="3184855"/>
            <a:ext cx="10616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Gemini API 키</a:t>
            </a:r>
            <a:endParaRPr lang="en-US" sz="1100" dirty="0"/>
          </a:p>
        </p:txBody>
      </p:sp>
      <p:sp>
        <p:nvSpPr>
          <p:cNvPr id="38" name="Text 27"/>
          <p:cNvSpPr txBox="1"/>
          <p:nvPr/>
        </p:nvSpPr>
        <p:spPr>
          <a:xfrm>
            <a:off x="4778654" y="3416198"/>
            <a:ext cx="13487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연동 및 테스트용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4530852" y="3713378"/>
            <a:ext cx="152705" cy="152705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4778654" y="3674974"/>
            <a:ext cx="8997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계정</a:t>
            </a:r>
            <a:endParaRPr lang="en-US" sz="1100" dirty="0"/>
          </a:p>
        </p:txBody>
      </p:sp>
      <p:sp>
        <p:nvSpPr>
          <p:cNvPr id="41" name="Text 29"/>
          <p:cNvSpPr txBox="1"/>
          <p:nvPr/>
        </p:nvSpPr>
        <p:spPr>
          <a:xfrm>
            <a:off x="4778654" y="3906317"/>
            <a:ext cx="16916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무료/교육용 플랜 (협업/문서화)</a:t>
            </a:r>
            <a:endParaRPr lang="en-US" sz="900" dirty="0"/>
          </a:p>
        </p:txBody>
      </p:sp>
      <p:sp>
        <p:nvSpPr>
          <p:cNvPr id="42" name="Shape 30"/>
          <p:cNvSpPr/>
          <p:nvPr/>
        </p:nvSpPr>
        <p:spPr>
          <a:xfrm>
            <a:off x="8033004" y="1499616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8042148" y="1508760"/>
            <a:ext cx="3476549" cy="38405"/>
          </a:xfrm>
          <a:prstGeom prst="rect">
            <a:avLst/>
          </a:prstGeom>
          <a:solidFill>
            <a:srgbClr val="38B2AC"/>
          </a:solidFill>
          <a:ln/>
        </p:spPr>
      </p:sp>
      <p:sp>
        <p:nvSpPr>
          <p:cNvPr id="44" name="Shape 32"/>
          <p:cNvSpPr/>
          <p:nvPr/>
        </p:nvSpPr>
        <p:spPr>
          <a:xfrm>
            <a:off x="8214055" y="1680667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E6FFFA"/>
          </a:solidFill>
          <a:ln/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rcRect l="-505" r="-505" t="0" b="0"/>
          <a:stretch/>
        </p:blipFill>
        <p:spPr>
          <a:xfrm>
            <a:off x="8299094" y="1789481"/>
            <a:ext cx="228600" cy="181051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8727948" y="1748333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도구</a:t>
            </a:r>
            <a:endParaRPr lang="en-US" sz="1300" dirty="0"/>
          </a:p>
        </p:txBody>
      </p:sp>
      <p:pic>
        <p:nvPicPr>
          <p:cNvPr id="47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214055" y="2242109"/>
            <a:ext cx="152705" cy="152705"/>
          </a:xfrm>
          <a:prstGeom prst="rect">
            <a:avLst/>
          </a:prstGeom>
        </p:spPr>
      </p:pic>
      <p:sp>
        <p:nvSpPr>
          <p:cNvPr id="48" name="Text 34"/>
          <p:cNvSpPr txBox="1"/>
          <p:nvPr/>
        </p:nvSpPr>
        <p:spPr>
          <a:xfrm>
            <a:off x="8460943" y="2203704"/>
            <a:ext cx="11667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IDE</a:t>
            </a:r>
            <a:endParaRPr lang="en-US" sz="1100" dirty="0"/>
          </a:p>
        </p:txBody>
      </p:sp>
      <p:sp>
        <p:nvSpPr>
          <p:cNvPr id="49" name="Text 35"/>
          <p:cNvSpPr txBox="1"/>
          <p:nvPr/>
        </p:nvSpPr>
        <p:spPr>
          <a:xfrm>
            <a:off x="8460943" y="2435047"/>
            <a:ext cx="14346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구글의 AI 기반 차세대 IDE</a:t>
            </a:r>
            <a:endParaRPr lang="en-US" sz="900" dirty="0"/>
          </a:p>
        </p:txBody>
      </p:sp>
      <p:pic>
        <p:nvPicPr>
          <p:cNvPr id="50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214055" y="2732227"/>
            <a:ext cx="152705" cy="152705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460943" y="2694737"/>
            <a:ext cx="62362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설치</a:t>
            </a:r>
            <a:endParaRPr lang="en-US" sz="1100" dirty="0"/>
          </a:p>
        </p:txBody>
      </p:sp>
      <p:sp>
        <p:nvSpPr>
          <p:cNvPr id="52" name="Text 37"/>
          <p:cNvSpPr txBox="1"/>
          <p:nvPr/>
        </p:nvSpPr>
        <p:spPr>
          <a:xfrm>
            <a:off x="8460943" y="2926080"/>
            <a:ext cx="12060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관리 시스템 설정</a:t>
            </a:r>
            <a:endParaRPr lang="en-US" sz="900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8214055" y="3223260"/>
            <a:ext cx="152705" cy="152705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8460943" y="3184855"/>
            <a:ext cx="11475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Chrome / Edge</a:t>
            </a:r>
            <a:endParaRPr lang="en-US" sz="1100" dirty="0"/>
          </a:p>
        </p:txBody>
      </p:sp>
      <p:sp>
        <p:nvSpPr>
          <p:cNvPr id="55" name="Text 39"/>
          <p:cNvSpPr txBox="1"/>
          <p:nvPr/>
        </p:nvSpPr>
        <p:spPr>
          <a:xfrm>
            <a:off x="8460943" y="3416198"/>
            <a:ext cx="13203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브라우저 환경 권장</a:t>
            </a:r>
            <a:endParaRPr lang="en-US" sz="900" dirty="0"/>
          </a:p>
        </p:txBody>
      </p:sp>
      <p:sp>
        <p:nvSpPr>
          <p:cNvPr id="56" name="Shape 40"/>
          <p:cNvSpPr/>
          <p:nvPr/>
        </p:nvSpPr>
        <p:spPr>
          <a:xfrm>
            <a:off x="666598" y="4461358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57" name="Shape 41"/>
          <p:cNvSpPr/>
          <p:nvPr/>
        </p:nvSpPr>
        <p:spPr>
          <a:xfrm>
            <a:off x="676656" y="4470502"/>
            <a:ext cx="3476549" cy="38405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58" name="Shape 42"/>
          <p:cNvSpPr/>
          <p:nvPr/>
        </p:nvSpPr>
        <p:spPr>
          <a:xfrm>
            <a:off x="847649" y="464149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FFAF0"/>
          </a:solidFill>
          <a:ln/>
        </p:spPr>
      </p:sp>
      <p:pic>
        <p:nvPicPr>
          <p:cNvPr id="59" name="Image 14" descr="preencoded.png">    </p:cNvPr>
          <p:cNvPicPr>
            <a:picLocks noChangeAspect="1"/>
          </p:cNvPicPr>
          <p:nvPr/>
        </p:nvPicPr>
        <p:blipFill>
          <a:blip r:embed="rId15"/>
          <a:srcRect l="-1403" r="-1403" t="0" b="0"/>
          <a:stretch/>
        </p:blipFill>
        <p:spPr>
          <a:xfrm>
            <a:off x="942746" y="4751222"/>
            <a:ext cx="209398" cy="181051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362456" y="4710074"/>
            <a:ext cx="82753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자료</a:t>
            </a:r>
            <a:endParaRPr lang="en-US" sz="1300" dirty="0"/>
          </a:p>
        </p:txBody>
      </p:sp>
      <p:pic>
        <p:nvPicPr>
          <p:cNvPr id="61" name="Image 15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847649" y="5203850"/>
            <a:ext cx="152705" cy="152705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1095451" y="5165446"/>
            <a:ext cx="13286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2022 개정 교육과정</a:t>
            </a:r>
            <a:endParaRPr lang="en-US" sz="1100" dirty="0"/>
          </a:p>
        </p:txBody>
      </p:sp>
      <p:sp>
        <p:nvSpPr>
          <p:cNvPr id="63" name="Text 45"/>
          <p:cNvSpPr txBox="1"/>
          <p:nvPr/>
        </p:nvSpPr>
        <p:spPr>
          <a:xfrm>
            <a:off x="1095451" y="5396789"/>
            <a:ext cx="146304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기술·가정 및 정보 성취기준</a:t>
            </a:r>
            <a:endParaRPr lang="en-US" sz="900" dirty="0"/>
          </a:p>
        </p:txBody>
      </p:sp>
      <p:pic>
        <p:nvPicPr>
          <p:cNvPr id="64" name="Image 16" descr="preencoded.png">    </p:cNvPr>
          <p:cNvPicPr>
            <a:picLocks noChangeAspect="1"/>
          </p:cNvPicPr>
          <p:nvPr/>
        </p:nvPicPr>
        <p:blipFill>
          <a:blip r:embed="rId17"/>
          <a:srcRect l="0" r="0" t="0" b="0"/>
          <a:stretch/>
        </p:blipFill>
        <p:spPr>
          <a:xfrm>
            <a:off x="847649" y="5693969"/>
            <a:ext cx="152705" cy="152705"/>
          </a:xfrm>
          <a:prstGeom prst="rect">
            <a:avLst/>
          </a:prstGeom>
        </p:spPr>
      </p:pic>
      <p:sp>
        <p:nvSpPr>
          <p:cNvPr id="65" name="Text 46"/>
          <p:cNvSpPr txBox="1"/>
          <p:nvPr/>
        </p:nvSpPr>
        <p:spPr>
          <a:xfrm>
            <a:off x="1095451" y="5656478"/>
            <a:ext cx="10899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데이터</a:t>
            </a:r>
            <a:endParaRPr lang="en-US" sz="1100" dirty="0"/>
          </a:p>
        </p:txBody>
      </p:sp>
      <p:sp>
        <p:nvSpPr>
          <p:cNvPr id="66" name="Text 47"/>
          <p:cNvSpPr txBox="1"/>
          <p:nvPr/>
        </p:nvSpPr>
        <p:spPr>
          <a:xfrm>
            <a:off x="1095451" y="5887822"/>
            <a:ext cx="14447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수업용 미디어/텍스트 에셋</a:t>
            </a:r>
            <a:endParaRPr lang="en-US" sz="900" dirty="0"/>
          </a:p>
        </p:txBody>
      </p:sp>
      <p:sp>
        <p:nvSpPr>
          <p:cNvPr id="67" name="Shape 48"/>
          <p:cNvSpPr/>
          <p:nvPr/>
        </p:nvSpPr>
        <p:spPr>
          <a:xfrm>
            <a:off x="4349801" y="4461358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8" name="Shape 49"/>
          <p:cNvSpPr/>
          <p:nvPr/>
        </p:nvSpPr>
        <p:spPr>
          <a:xfrm>
            <a:off x="4358945" y="4470502"/>
            <a:ext cx="3476549" cy="38405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69" name="Shape 50"/>
          <p:cNvSpPr/>
          <p:nvPr/>
        </p:nvSpPr>
        <p:spPr>
          <a:xfrm>
            <a:off x="4530852" y="4641494"/>
            <a:ext cx="400507" cy="400507"/>
          </a:xfrm>
          <a:prstGeom prst="roundRect">
            <a:avLst>
              <a:gd name="adj" fmla="val 54360"/>
            </a:avLst>
          </a:prstGeom>
          <a:solidFill>
            <a:srgbClr val="FFF5F5"/>
          </a:solidFill>
          <a:ln/>
        </p:spPr>
      </p:sp>
      <p:pic>
        <p:nvPicPr>
          <p:cNvPr id="70" name="Image 17" descr="preencoded.png">    </p:cNvPr>
          <p:cNvPicPr>
            <a:picLocks noChangeAspect="1"/>
          </p:cNvPicPr>
          <p:nvPr/>
        </p:nvPicPr>
        <p:blipFill>
          <a:blip r:embed="rId18"/>
          <a:srcRect l="-505" r="-505" t="0" b="0"/>
          <a:stretch/>
        </p:blipFill>
        <p:spPr>
          <a:xfrm>
            <a:off x="4616806" y="4751222"/>
            <a:ext cx="228600" cy="181051"/>
          </a:xfrm>
          <a:prstGeom prst="rect">
            <a:avLst/>
          </a:prstGeom>
        </p:spPr>
      </p:pic>
      <p:sp>
        <p:nvSpPr>
          <p:cNvPr id="71" name="Text 51"/>
          <p:cNvSpPr txBox="1"/>
          <p:nvPr/>
        </p:nvSpPr>
        <p:spPr>
          <a:xfrm>
            <a:off x="5044745" y="4710074"/>
            <a:ext cx="77998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네트워크</a:t>
            </a:r>
            <a:endParaRPr lang="en-US" sz="1300" dirty="0"/>
          </a:p>
        </p:txBody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19"/>
          <a:srcRect l="0" r="0" t="0" b="0"/>
          <a:stretch/>
        </p:blipFill>
        <p:spPr>
          <a:xfrm>
            <a:off x="4530852" y="5203850"/>
            <a:ext cx="152705" cy="152705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4778654" y="5165446"/>
            <a:ext cx="822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인터넷 연결</a:t>
            </a:r>
            <a:endParaRPr lang="en-US" sz="1100" dirty="0"/>
          </a:p>
        </p:txBody>
      </p:sp>
      <p:sp>
        <p:nvSpPr>
          <p:cNvPr id="74" name="Text 53"/>
          <p:cNvSpPr txBox="1"/>
          <p:nvPr/>
        </p:nvSpPr>
        <p:spPr>
          <a:xfrm>
            <a:off x="4778654" y="5396789"/>
            <a:ext cx="154899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 IDE 접속 환경 점검</a:t>
            </a:r>
            <a:endParaRPr lang="en-US" sz="900" dirty="0"/>
          </a:p>
        </p:txBody>
      </p:sp>
      <p:pic>
        <p:nvPicPr>
          <p:cNvPr id="75" name="Image 19" descr="preencoded.png">    </p:cNvPr>
          <p:cNvPicPr>
            <a:picLocks noChangeAspect="1"/>
          </p:cNvPicPr>
          <p:nvPr/>
        </p:nvPicPr>
        <p:blipFill>
          <a:blip r:embed="rId20"/>
          <a:srcRect l="0" r="0" t="0" b="0"/>
          <a:stretch/>
        </p:blipFill>
        <p:spPr>
          <a:xfrm>
            <a:off x="4530852" y="5693969"/>
            <a:ext cx="152705" cy="152705"/>
          </a:xfrm>
          <a:prstGeom prst="rect">
            <a:avLst/>
          </a:prstGeom>
        </p:spPr>
      </p:pic>
      <p:sp>
        <p:nvSpPr>
          <p:cNvPr id="76" name="Text 54"/>
          <p:cNvSpPr txBox="1"/>
          <p:nvPr/>
        </p:nvSpPr>
        <p:spPr>
          <a:xfrm>
            <a:off x="4778654" y="5656478"/>
            <a:ext cx="6903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A556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 점검</a:t>
            </a:r>
            <a:endParaRPr lang="en-US" sz="1100" dirty="0"/>
          </a:p>
        </p:txBody>
      </p:sp>
      <p:sp>
        <p:nvSpPr>
          <p:cNvPr id="77" name="Text 55"/>
          <p:cNvSpPr txBox="1"/>
          <p:nvPr/>
        </p:nvSpPr>
        <p:spPr>
          <a:xfrm>
            <a:off x="4778654" y="5887822"/>
            <a:ext cx="13304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학교/기관망 방화벽 확인</a:t>
            </a:r>
            <a:endParaRPr lang="en-US" sz="900" dirty="0"/>
          </a:p>
        </p:txBody>
      </p:sp>
      <p:sp>
        <p:nvSpPr>
          <p:cNvPr id="78" name="Shape 56"/>
          <p:cNvSpPr/>
          <p:nvPr/>
        </p:nvSpPr>
        <p:spPr>
          <a:xfrm>
            <a:off x="8033004" y="4461358"/>
            <a:ext cx="3495751" cy="2771546"/>
          </a:xfrm>
          <a:prstGeom prst="roundRect">
            <a:avLst>
              <a:gd name="adj" fmla="val 1814"/>
            </a:avLst>
          </a:prstGeom>
          <a:solidFill>
            <a:srgbClr val="FFFBEB"/>
          </a:solidFill>
          <a:ln w="25400">
            <a:solidFill>
              <a:srgbClr val="F6E05E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79" name="Image 20" descr="preencoded.png">    </p:cNvPr>
          <p:cNvPicPr>
            <a:picLocks noChangeAspect="1"/>
          </p:cNvPicPr>
          <p:nvPr/>
        </p:nvPicPr>
        <p:blipFill>
          <a:blip r:embed="rId21">
            <a:alphaModFix amt="80000"/>
          </a:blip>
          <a:srcRect l="-40" r="-40" t="0" b="0"/>
          <a:stretch/>
        </p:blipFill>
        <p:spPr>
          <a:xfrm>
            <a:off x="9635947" y="5238598"/>
            <a:ext cx="286207" cy="381305"/>
          </a:xfrm>
          <a:prstGeom prst="rect">
            <a:avLst/>
          </a:prstGeom>
        </p:spPr>
      </p:pic>
      <p:sp>
        <p:nvSpPr>
          <p:cNvPr id="80" name="Text 57"/>
          <p:cNvSpPr txBox="1"/>
          <p:nvPr/>
        </p:nvSpPr>
        <p:spPr>
          <a:xfrm>
            <a:off x="9222638" y="5734202"/>
            <a:ext cx="1240841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4421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Access Check</a:t>
            </a:r>
            <a:endParaRPr lang="en-US" sz="1300" dirty="0"/>
          </a:p>
        </p:txBody>
      </p:sp>
      <p:sp>
        <p:nvSpPr>
          <p:cNvPr id="81" name="Text 58"/>
          <p:cNvSpPr txBox="1"/>
          <p:nvPr/>
        </p:nvSpPr>
        <p:spPr>
          <a:xfrm>
            <a:off x="8270748" y="6042355"/>
            <a:ext cx="31226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5A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전 반드시 Antigravity 접근 권한이 있는 구글 계정을 준비해주세요!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858707" y="-1429207"/>
            <a:ext cx="4762195" cy="4762195"/>
          </a:xfrm>
          <a:prstGeom prst="ellipse">
            <a:avLst/>
          </a:prstGeom>
          <a:solidFill>
            <a:srgbClr val="F0FFF4"/>
          </a:solidFill>
          <a:ln/>
        </p:spPr>
      </p:sp>
      <p:sp>
        <p:nvSpPr>
          <p:cNvPr id="5" name="Shape 3"/>
          <p:cNvSpPr/>
          <p:nvPr/>
        </p:nvSpPr>
        <p:spPr>
          <a:xfrm>
            <a:off x="-952805" y="4000500"/>
            <a:ext cx="3810305" cy="3810305"/>
          </a:xfrm>
          <a:prstGeom prst="ellipse">
            <a:avLst/>
          </a:prstGeom>
          <a:solidFill>
            <a:srgbClr val="EBF8FF"/>
          </a:solidFill>
          <a:ln/>
        </p:spPr>
      </p:sp>
      <p:sp>
        <p:nvSpPr>
          <p:cNvPr id="6" name="Shape 4"/>
          <p:cNvSpPr/>
          <p:nvPr/>
        </p:nvSpPr>
        <p:spPr>
          <a:xfrm>
            <a:off x="761695" y="1533449"/>
            <a:ext cx="10668305" cy="19202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7" name="Shape 5"/>
          <p:cNvSpPr/>
          <p:nvPr/>
        </p:nvSpPr>
        <p:spPr>
          <a:xfrm>
            <a:off x="9763049" y="954634"/>
            <a:ext cx="1666951" cy="390449"/>
          </a:xfrm>
          <a:prstGeom prst="roundRect">
            <a:avLst>
              <a:gd name="adj" fmla="val 171360"/>
            </a:avLst>
          </a:prstGeom>
          <a:solidFill>
            <a:srgbClr val="FFFAF0"/>
          </a:solidFill>
          <a:ln w="12700">
            <a:solidFill>
              <a:srgbClr val="FBD38D"/>
            </a:solidFill>
            <a:prstDash val="solid"/>
          </a:ln>
          <a:effectLst>
            <a:outerShdw sx="100000" sy="100000" kx="0" ky="0" algn="bl" rotWithShape="0" blurRad="38100" dist="25400" dir="5400000">
              <a:srgbClr val="dd6b20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56" b="-556"/>
          <a:stretch/>
        </p:blipFill>
        <p:spPr>
          <a:xfrm>
            <a:off x="9924898" y="1077163"/>
            <a:ext cx="123444" cy="14264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710782" y="6677863"/>
            <a:ext cx="4724705" cy="771754"/>
          </a:xfrm>
          <a:prstGeom prst="roundRect">
            <a:avLst>
              <a:gd name="adj" fmla="val 23404"/>
            </a:avLst>
          </a:prstGeom>
          <a:solidFill>
            <a:srgbClr val="2C5282"/>
          </a:solidFill>
          <a:ln/>
          <a:effectLst>
            <a:outerShdw sx="100000" sy="100000" kx="0" ky="0" algn="bl" rotWithShape="0" blurRad="139700" dist="101600" dir="5400000">
              <a:srgbClr val="2c5282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0858500" y="6889090"/>
            <a:ext cx="342900" cy="3429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3" b="-43"/>
          <a:stretch/>
        </p:blipFill>
        <p:spPr>
          <a:xfrm>
            <a:off x="10963656" y="6984187"/>
            <a:ext cx="133502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" y="485546"/>
            <a:ext cx="33055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02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마무리 및 다음 단계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1086307"/>
            <a:ext cx="17867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 &amp; Next Steps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10125151" y="1040587"/>
            <a:ext cx="12518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D6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Action Required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6939382" y="6829654"/>
            <a:ext cx="9811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0CDF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SESSION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6939382" y="7039966"/>
            <a:ext cx="225948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1차시: 바이브코딩 &amp; 환경설정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61695" y="1837944"/>
            <a:ext cx="5667451" cy="3648456"/>
          </a:xfrm>
          <a:prstGeom prst="roundRect">
            <a:avLst>
              <a:gd name="adj" fmla="val 1047"/>
            </a:avLst>
          </a:prstGeom>
          <a:solidFill>
            <a:srgbClr val="FFFAF0"/>
          </a:solidFill>
          <a:ln w="12700">
            <a:solidFill>
              <a:srgbClr val="FBD38D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00354" y="2112264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285646" y="2076602"/>
            <a:ext cx="24752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0562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오늘 할 일 (Today's Mission)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1000354" y="2491740"/>
            <a:ext cx="5191049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62202" y="2616098"/>
            <a:ext cx="190195" cy="190195"/>
          </a:xfrm>
          <a:prstGeom prst="roundRect">
            <a:avLst>
              <a:gd name="adj" fmla="val 144231"/>
            </a:avLst>
          </a:prstGeom>
          <a:noFill/>
          <a:ln w="25400">
            <a:solidFill>
              <a:srgbClr val="FC8181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1466698" y="2596896"/>
            <a:ext cx="13990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계정 생성 및 설정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466698" y="2821838"/>
            <a:ext cx="218724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Google(Antigravity), GitHub 계정 가입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1000354" y="3204058"/>
            <a:ext cx="5191049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1162202" y="3328416"/>
            <a:ext cx="190195" cy="190195"/>
          </a:xfrm>
          <a:prstGeom prst="roundRect">
            <a:avLst>
              <a:gd name="adj" fmla="val 144231"/>
            </a:avLst>
          </a:prstGeom>
          <a:noFill/>
          <a:ln w="25400">
            <a:solidFill>
              <a:srgbClr val="FC818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1466698" y="3309214"/>
            <a:ext cx="16459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워크스페이스 생성</a:t>
            </a:r>
            <a:endParaRPr lang="en-US" sz="1000" dirty="0"/>
          </a:p>
        </p:txBody>
      </p:sp>
      <p:sp>
        <p:nvSpPr>
          <p:cNvPr id="27" name="Text 22"/>
          <p:cNvSpPr txBox="1"/>
          <p:nvPr/>
        </p:nvSpPr>
        <p:spPr>
          <a:xfrm>
            <a:off x="1466698" y="3534156"/>
            <a:ext cx="206380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문서화 및 협업용 페이지 개설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1000354" y="3917290"/>
            <a:ext cx="5191049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162202" y="4040734"/>
            <a:ext cx="190195" cy="190195"/>
          </a:xfrm>
          <a:prstGeom prst="roundRect">
            <a:avLst>
              <a:gd name="adj" fmla="val 144231"/>
            </a:avLst>
          </a:prstGeom>
          <a:noFill/>
          <a:ln w="25400">
            <a:solidFill>
              <a:srgbClr val="FC818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1466698" y="4021531"/>
            <a:ext cx="12371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진단 설문 제출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1466698" y="4246474"/>
            <a:ext cx="213055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 경험 및 관심 주제 파악용 링크 제출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1000354" y="4629607"/>
            <a:ext cx="5191049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FED7D7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2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162202" y="4753051"/>
            <a:ext cx="190195" cy="190195"/>
          </a:xfrm>
          <a:prstGeom prst="roundRect">
            <a:avLst>
              <a:gd name="adj" fmla="val 144231"/>
            </a:avLst>
          </a:prstGeom>
          <a:noFill/>
          <a:ln w="25400">
            <a:solidFill>
              <a:srgbClr val="FC818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1466698" y="4734763"/>
            <a:ext cx="11887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아이디어 초안 작성</a:t>
            </a:r>
            <a:endParaRPr lang="en-US" sz="1000" dirty="0"/>
          </a:p>
        </p:txBody>
      </p:sp>
      <p:sp>
        <p:nvSpPr>
          <p:cNvPr id="35" name="Text 30"/>
          <p:cNvSpPr txBox="1"/>
          <p:nvPr/>
        </p:nvSpPr>
        <p:spPr>
          <a:xfrm>
            <a:off x="1466698" y="4959706"/>
            <a:ext cx="20537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 현장에서 풀고 싶은 문제 1줄 요약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761695" y="5675681"/>
            <a:ext cx="5667451" cy="1772107"/>
          </a:xfrm>
          <a:prstGeom prst="roundRect">
            <a:avLst>
              <a:gd name="adj" fmla="val 4439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4"/>
          <a:srcRect l="-1648" r="-1648" t="0" b="0"/>
          <a:stretch/>
        </p:blipFill>
        <p:spPr>
          <a:xfrm>
            <a:off x="1000354" y="5950001"/>
            <a:ext cx="171907" cy="190195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1266444" y="5913425"/>
            <a:ext cx="22942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마일스톤 (Milestones)</a:t>
            </a:r>
            <a:endParaRPr lang="en-US" sz="1300" dirty="0"/>
          </a:p>
        </p:txBody>
      </p:sp>
      <p:sp>
        <p:nvSpPr>
          <p:cNvPr id="39" name="Shape 33"/>
          <p:cNvSpPr/>
          <p:nvPr/>
        </p:nvSpPr>
        <p:spPr>
          <a:xfrm>
            <a:off x="1190549" y="6558077"/>
            <a:ext cx="4809744" cy="38405"/>
          </a:xfrm>
          <a:prstGeom prst="roundRect">
            <a:avLst>
              <a:gd name="adj" fmla="val 1190470"/>
            </a:avLst>
          </a:prstGeom>
          <a:solidFill>
            <a:srgbClr val="E2E8F0"/>
          </a:solidFill>
          <a:ln/>
        </p:spPr>
      </p:sp>
      <p:sp>
        <p:nvSpPr>
          <p:cNvPr id="40" name="Shape 34"/>
          <p:cNvSpPr/>
          <p:nvPr/>
        </p:nvSpPr>
        <p:spPr>
          <a:xfrm>
            <a:off x="6710782" y="1837944"/>
            <a:ext cx="4724705" cy="3562502"/>
          </a:xfrm>
          <a:prstGeom prst="roundRect">
            <a:avLst>
              <a:gd name="adj" fmla="val 1098"/>
            </a:avLst>
          </a:prstGeom>
          <a:solidFill>
            <a:srgbClr val="FFFFFF"/>
          </a:solidFill>
          <a:ln w="12700">
            <a:solidFill>
              <a:srgbClr val="EDF2F7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6948526" y="2112264"/>
            <a:ext cx="219456" cy="19019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7263079" y="2076602"/>
            <a:ext cx="98938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 리소스</a:t>
            </a:r>
            <a:endParaRPr lang="en-US" sz="1300" dirty="0"/>
          </a:p>
        </p:txBody>
      </p:sp>
      <p:sp>
        <p:nvSpPr>
          <p:cNvPr id="43" name="Shape 36"/>
          <p:cNvSpPr/>
          <p:nvPr/>
        </p:nvSpPr>
        <p:spPr>
          <a:xfrm>
            <a:off x="6948526" y="2491740"/>
            <a:ext cx="4248302" cy="599846"/>
          </a:xfrm>
          <a:prstGeom prst="roundRect">
            <a:avLst>
              <a:gd name="adj" fmla="val 24197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7072884" y="2617927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EBF8FF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42" b="-842"/>
          <a:stretch/>
        </p:blipFill>
        <p:spPr>
          <a:xfrm>
            <a:off x="7148779" y="2702966"/>
            <a:ext cx="190195" cy="171907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7549286" y="2596896"/>
            <a:ext cx="13258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Antigravity 튜토리얼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7549286" y="2809951"/>
            <a:ext cx="14859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IDE 설치 및 기본 기능 가이드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6948526" y="3181198"/>
            <a:ext cx="4248302" cy="599846"/>
          </a:xfrm>
          <a:prstGeom prst="roundRect">
            <a:avLst>
              <a:gd name="adj" fmla="val 24197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49" name="Shape 41"/>
          <p:cNvSpPr/>
          <p:nvPr/>
        </p:nvSpPr>
        <p:spPr>
          <a:xfrm>
            <a:off x="7072884" y="3307385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0FFF4"/>
          </a:solidFill>
          <a:ln/>
        </p:spPr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42" b="-842"/>
          <a:stretch/>
        </p:blipFill>
        <p:spPr>
          <a:xfrm>
            <a:off x="7148779" y="3393338"/>
            <a:ext cx="190195" cy="171907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7549286" y="3286354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샘플 프롬프트 가이드</a:t>
            </a:r>
            <a:endParaRPr lang="en-US" sz="1000" dirty="0"/>
          </a:p>
        </p:txBody>
      </p:sp>
      <p:sp>
        <p:nvSpPr>
          <p:cNvPr id="52" name="Text 43"/>
          <p:cNvSpPr txBox="1"/>
          <p:nvPr/>
        </p:nvSpPr>
        <p:spPr>
          <a:xfrm>
            <a:off x="7549286" y="3499409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R-C-T 패턴 및 명령 예시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6948526" y="3871570"/>
            <a:ext cx="4248302" cy="599846"/>
          </a:xfrm>
          <a:prstGeom prst="roundRect">
            <a:avLst>
              <a:gd name="adj" fmla="val 24197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7072884" y="3996842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AF5FF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rcRect l="-213" r="-213" t="0" b="0"/>
          <a:stretch/>
        </p:blipFill>
        <p:spPr>
          <a:xfrm>
            <a:off x="7163410" y="4082796"/>
            <a:ext cx="161849" cy="171907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7549286" y="3975811"/>
            <a:ext cx="12499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프로그램 템플릿</a:t>
            </a:r>
            <a:endParaRPr lang="en-US" sz="1000" dirty="0"/>
          </a:p>
        </p:txBody>
      </p:sp>
      <p:sp>
        <p:nvSpPr>
          <p:cNvPr id="57" name="Text 47"/>
          <p:cNvSpPr txBox="1"/>
          <p:nvPr/>
        </p:nvSpPr>
        <p:spPr>
          <a:xfrm>
            <a:off x="7549286" y="4189781"/>
            <a:ext cx="1733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퀴즈앱, 대시보드 등 Starter Code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6948526" y="4561027"/>
            <a:ext cx="4248302" cy="599846"/>
          </a:xfrm>
          <a:prstGeom prst="roundRect">
            <a:avLst>
              <a:gd name="adj" fmla="val 24197"/>
            </a:avLst>
          </a:prstGeom>
          <a:solidFill>
            <a:srgbClr val="F7FAFC"/>
          </a:solidFill>
          <a:ln w="12700">
            <a:solidFill>
              <a:srgbClr val="EDF2F7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7072884" y="4686300"/>
            <a:ext cx="342900" cy="342900"/>
          </a:xfrm>
          <a:prstGeom prst="roundRect">
            <a:avLst>
              <a:gd name="adj" fmla="val 74074"/>
            </a:avLst>
          </a:prstGeom>
          <a:solidFill>
            <a:srgbClr val="FFFAF0"/>
          </a:solidFill>
          <a:ln/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2222" b="-2222"/>
          <a:stretch/>
        </p:blipFill>
        <p:spPr>
          <a:xfrm>
            <a:off x="7181698" y="4772254"/>
            <a:ext cx="123444" cy="171907"/>
          </a:xfrm>
          <a:prstGeom prst="rect">
            <a:avLst/>
          </a:prstGeom>
        </p:spPr>
      </p:pic>
      <p:sp>
        <p:nvSpPr>
          <p:cNvPr id="61" name="Text 50"/>
          <p:cNvSpPr txBox="1"/>
          <p:nvPr/>
        </p:nvSpPr>
        <p:spPr>
          <a:xfrm>
            <a:off x="7549286" y="4665269"/>
            <a:ext cx="12024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Notion 필수 템플릿</a:t>
            </a:r>
            <a:endParaRPr lang="en-US" sz="1000" dirty="0"/>
          </a:p>
        </p:txBody>
      </p:sp>
      <p:sp>
        <p:nvSpPr>
          <p:cNvPr id="62" name="Text 51"/>
          <p:cNvSpPr txBox="1"/>
          <p:nvPr/>
        </p:nvSpPr>
        <p:spPr>
          <a:xfrm>
            <a:off x="7549286" y="4879238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PRD, 대시보드, 학습 일지 포함</a:t>
            </a:r>
            <a:endParaRPr lang="en-US" sz="900" dirty="0"/>
          </a:p>
        </p:txBody>
      </p:sp>
      <p:sp>
        <p:nvSpPr>
          <p:cNvPr id="63" name="Shape 52"/>
          <p:cNvSpPr/>
          <p:nvPr/>
        </p:nvSpPr>
        <p:spPr>
          <a:xfrm>
            <a:off x="1529791" y="6366967"/>
            <a:ext cx="381305" cy="381305"/>
          </a:xfrm>
          <a:prstGeom prst="ellipse">
            <a:avLst/>
          </a:prstGeom>
          <a:solidFill>
            <a:srgbClr val="EBF8FF"/>
          </a:solidFill>
          <a:ln w="38100">
            <a:solidFill>
              <a:srgbClr val="4299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4" name="Text 53"/>
          <p:cNvSpPr txBox="1"/>
          <p:nvPr/>
        </p:nvSpPr>
        <p:spPr>
          <a:xfrm>
            <a:off x="1560881" y="6460236"/>
            <a:ext cx="421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6CB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2차시</a:t>
            </a:r>
            <a:endParaRPr lang="en-US" sz="1000" dirty="0"/>
          </a:p>
        </p:txBody>
      </p:sp>
      <p:sp>
        <p:nvSpPr>
          <p:cNvPr id="65" name="Text 54"/>
          <p:cNvSpPr txBox="1"/>
          <p:nvPr/>
        </p:nvSpPr>
        <p:spPr>
          <a:xfrm>
            <a:off x="1492301" y="6843370"/>
            <a:ext cx="5550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PRD v1</a:t>
            </a:r>
            <a:endParaRPr lang="en-US" sz="1000" dirty="0"/>
          </a:p>
        </p:txBody>
      </p:sp>
      <p:sp>
        <p:nvSpPr>
          <p:cNvPr id="66" name="Text 55"/>
          <p:cNvSpPr txBox="1"/>
          <p:nvPr/>
        </p:nvSpPr>
        <p:spPr>
          <a:xfrm>
            <a:off x="1441094" y="704728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기획안 확정</a:t>
            </a:r>
            <a:endParaRPr lang="en-US" sz="900" dirty="0"/>
          </a:p>
        </p:txBody>
      </p:sp>
      <p:sp>
        <p:nvSpPr>
          <p:cNvPr id="67" name="Shape 56"/>
          <p:cNvSpPr/>
          <p:nvPr/>
        </p:nvSpPr>
        <p:spPr>
          <a:xfrm>
            <a:off x="2777947" y="6366967"/>
            <a:ext cx="381305" cy="381305"/>
          </a:xfrm>
          <a:prstGeom prst="ellipse">
            <a:avLst/>
          </a:prstGeom>
          <a:solidFill>
            <a:srgbClr val="F0FFF4"/>
          </a:solidFill>
          <a:ln w="38100">
            <a:solidFill>
              <a:srgbClr val="48BB78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68" name="Text 57"/>
          <p:cNvSpPr txBox="1"/>
          <p:nvPr/>
        </p:nvSpPr>
        <p:spPr>
          <a:xfrm>
            <a:off x="2809951" y="6460236"/>
            <a:ext cx="421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55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4차시</a:t>
            </a:r>
            <a:endParaRPr lang="en-US" sz="1000" dirty="0"/>
          </a:p>
        </p:txBody>
      </p:sp>
      <p:sp>
        <p:nvSpPr>
          <p:cNvPr id="69" name="Text 58"/>
          <p:cNvSpPr txBox="1"/>
          <p:nvPr/>
        </p:nvSpPr>
        <p:spPr>
          <a:xfrm>
            <a:off x="2652674" y="6843370"/>
            <a:ext cx="7360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미니앱 데모</a:t>
            </a:r>
            <a:endParaRPr lang="en-US" sz="1000" dirty="0"/>
          </a:p>
        </p:txBody>
      </p:sp>
      <p:sp>
        <p:nvSpPr>
          <p:cNvPr id="70" name="Text 59"/>
          <p:cNvSpPr txBox="1"/>
          <p:nvPr/>
        </p:nvSpPr>
        <p:spPr>
          <a:xfrm>
            <a:off x="2732227" y="7047281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MVP 시연</a:t>
            </a:r>
            <a:endParaRPr lang="en-US" sz="900" dirty="0"/>
          </a:p>
        </p:txBody>
      </p:sp>
      <p:sp>
        <p:nvSpPr>
          <p:cNvPr id="71" name="Shape 60"/>
          <p:cNvSpPr/>
          <p:nvPr/>
        </p:nvSpPr>
        <p:spPr>
          <a:xfrm>
            <a:off x="4027018" y="6366967"/>
            <a:ext cx="381305" cy="381305"/>
          </a:xfrm>
          <a:prstGeom prst="ellipse">
            <a:avLst/>
          </a:prstGeom>
          <a:solidFill>
            <a:srgbClr val="FAF5FF"/>
          </a:solidFill>
          <a:ln w="38100">
            <a:solidFill>
              <a:srgbClr val="9F7AEA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2" name="Text 61"/>
          <p:cNvSpPr txBox="1"/>
          <p:nvPr/>
        </p:nvSpPr>
        <p:spPr>
          <a:xfrm>
            <a:off x="4059022" y="6460236"/>
            <a:ext cx="421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6C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6차시</a:t>
            </a:r>
            <a:endParaRPr lang="en-US" sz="1000" dirty="0"/>
          </a:p>
        </p:txBody>
      </p:sp>
      <p:sp>
        <p:nvSpPr>
          <p:cNvPr id="73" name="Text 62"/>
          <p:cNvSpPr txBox="1"/>
          <p:nvPr/>
        </p:nvSpPr>
        <p:spPr>
          <a:xfrm>
            <a:off x="3961181" y="6843370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베타 배포</a:t>
            </a:r>
            <a:endParaRPr lang="en-US" sz="1000" dirty="0"/>
          </a:p>
        </p:txBody>
      </p:sp>
      <p:sp>
        <p:nvSpPr>
          <p:cNvPr id="74" name="Text 63"/>
          <p:cNvSpPr txBox="1"/>
          <p:nvPr/>
        </p:nvSpPr>
        <p:spPr>
          <a:xfrm>
            <a:off x="3987698" y="7047281"/>
            <a:ext cx="553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URL 생성</a:t>
            </a:r>
            <a:endParaRPr lang="en-US" sz="900" dirty="0"/>
          </a:p>
        </p:txBody>
      </p:sp>
      <p:sp>
        <p:nvSpPr>
          <p:cNvPr id="75" name="Shape 64"/>
          <p:cNvSpPr/>
          <p:nvPr/>
        </p:nvSpPr>
        <p:spPr>
          <a:xfrm>
            <a:off x="5276088" y="6366967"/>
            <a:ext cx="381305" cy="381305"/>
          </a:xfrm>
          <a:prstGeom prst="ellipse">
            <a:avLst/>
          </a:prstGeom>
          <a:solidFill>
            <a:srgbClr val="FFF5F5"/>
          </a:solidFill>
          <a:ln w="38100">
            <a:solidFill>
              <a:srgbClr val="F56565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76" name="Text 65"/>
          <p:cNvSpPr txBox="1"/>
          <p:nvPr/>
        </p:nvSpPr>
        <p:spPr>
          <a:xfrm>
            <a:off x="5308092" y="6460236"/>
            <a:ext cx="421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8차시</a:t>
            </a:r>
            <a:endParaRPr lang="en-US" sz="1000" dirty="0"/>
          </a:p>
        </p:txBody>
      </p:sp>
      <p:sp>
        <p:nvSpPr>
          <p:cNvPr id="77" name="Text 66"/>
          <p:cNvSpPr txBox="1"/>
          <p:nvPr/>
        </p:nvSpPr>
        <p:spPr>
          <a:xfrm>
            <a:off x="5210251" y="6843370"/>
            <a:ext cx="6117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7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발표</a:t>
            </a:r>
            <a:endParaRPr lang="en-US" sz="1000" dirty="0"/>
          </a:p>
        </p:txBody>
      </p:sp>
      <p:sp>
        <p:nvSpPr>
          <p:cNvPr id="78" name="Text 67"/>
          <p:cNvSpPr txBox="1"/>
          <p:nvPr/>
        </p:nvSpPr>
        <p:spPr>
          <a:xfrm>
            <a:off x="5135270" y="7047281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완성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2026-01-05T05:12:12Z</dcterms:created>
  <dcterms:modified xsi:type="dcterms:W3CDTF">2026-01-05T05:12:12Z</dcterms:modified>
</cp:coreProperties>
</file>